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91440" cy="2286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CC"/>
                </a:solidFill>
              </a:rPr>
              <a:t>ウェブサイト ヒューリスティック調査レポート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アストライダ株式会社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調査日: 2026-03-04　｜　ニールセン10原則準拠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600"/>
                </a:solidFill>
              </a:rPr>
              <a:t>総合スコア: 25/50点 (50%)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7C00"/>
                </a:solidFill>
              </a:rPr>
              <a:t>評価: C（要改善）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CCDD"/>
                </a:solidFill>
              </a:rPr>
              <a:t>Powered by Agent Teams | Sales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サイト概要 &amp; チェックリスト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30352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企業基本情報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企業名: アストライダ株式会社
業種:   LED投影機・光学部品製造
URL:    https://www.astryda.com/
最終更新: 2026年1月13日（新着情報の最終エントリより）
総合スコア: 25/50点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576072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機能チェックリスト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8E3C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お問い合わせフォーム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7C00"/>
                </a:solidFill>
              </a:rP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スマートフォン対応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英語ページ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8E3C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採用ページ（自社）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SNSリンク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11430000" cy="26517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🔥 主要課題 TOP5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</a:rPr>
              <a:t>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2025年末〜2026年初に主力製品が多数販売終了しており、製品ポートフォリオの大幅変更期にある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73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</a:rPr>
              <a:t>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737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サイト内検索機能がなく、製品数が多いにも関わらず発見性が低い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669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</a:rPr>
              <a:t>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669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英語ページが不在で、海外顧客へのアプローチが限定的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601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</a:rPr>
              <a:t>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01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SNSプレゼンスがほぼゼロで、新規顧客獲得チャネルが限定的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533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</a:rPr>
              <a:t>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0533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URLがhttpとhttpsで混在しており、セキュリティ・SEOに悪影響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ニールセン10原則 スコアカード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システム状態の可視性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2/5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28016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販売終了製品の状態表示が不明瞭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234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システムと現実の対応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7C00"/>
                </a:solidFill>
              </a:rPr>
              <a:t>3/5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69164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691640"/>
            <a:ext cx="1920240" cy="1828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019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型番のみで用途が不明瞭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4028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ユーザーコントロールと自由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2/5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74320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743200"/>
            <a:ext cx="128016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9535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製品詳細から一覧への戻るリンクが不明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24028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一貫性と標準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7C00"/>
                </a:solidFill>
              </a:rPr>
              <a:t>3/5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274320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2743200"/>
            <a:ext cx="1920240" cy="1828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9535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URLがhttpとhttpsで混在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29184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5.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337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エラー防止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337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2/5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79476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3794760"/>
            <a:ext cx="128016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0050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フォームリアルタイムバリデーション不明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29184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6.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337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記憶より認識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3337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7C00"/>
                </a:solidFill>
              </a:rPr>
              <a:t>3/5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79476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75120" y="3794760"/>
            <a:ext cx="1920240" cy="1828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0050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統合製品カタログページの有無不明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34340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7.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389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柔軟性と効率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2/5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84632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4846320"/>
            <a:ext cx="128016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0566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サイト内検索機能が不明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34340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8.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4389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審美的でミニマルなデザイン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7C00"/>
                </a:solidFill>
              </a:rPr>
              <a:t>3/5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484632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75120" y="4846320"/>
            <a:ext cx="1920240" cy="1828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50566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製品ページのレイアウト統一性不明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9496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9.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440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エラーの認識・診断・回復を助ける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46320" y="5440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2/5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589788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0" y="5897880"/>
            <a:ext cx="128016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108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カスタム404ページ不明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539496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10.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0" y="5440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ヘルプとドキュメント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89920" y="5440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7C00"/>
                </a:solidFill>
              </a:rPr>
              <a:t>3/5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75120" y="589788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75120" y="5897880"/>
            <a:ext cx="1920240" cy="1828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0" y="6108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FAQが新着情報ページに統合されており見つけにくい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ニールセン原則 詳細分析 — 詳細分析 (1〜5)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4300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14300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システム状態の可視性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188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18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・販売終了製品の状態表示が不明瞭　・フォーム送信フィードバックが不明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18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販売終了製品に赤色バッジを付与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19456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2194560"/>
            <a:ext cx="411480" cy="9784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システムと現実の対応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240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7C00"/>
                </a:solidFill>
              </a:rPr>
              <a:t>★ 3/5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・型番のみで用途が不明瞭　・専門用語の説明不足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700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型番に用途説明を追加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24612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324612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" y="3520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ユーザーコントロールと自由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2918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2/5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216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・製品詳細から一覧への戻るリンクが不明　・フォームリセットボタン不明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216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パンくずリストを実装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29768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4297680"/>
            <a:ext cx="411480" cy="9784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一貫性と標準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343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7C00"/>
                </a:solidFill>
              </a:rPr>
              <a:t>★ 3/5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773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・URLがhttpとhttpsで混在　・URL命名規則が不統一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73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全URLをhttpsに統一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534924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" y="534924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" y="5623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エラー防止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2/5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24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・フォームリアルタイムバリデーション不明　・販売終了品への問い合わせリスク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824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フォームにバリデーションを実装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ニールセン原則 詳細分析 — 詳細分析 (6〜10)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4300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143000"/>
            <a:ext cx="411480" cy="9784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記憶より認識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188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7C00"/>
                </a:solidFill>
              </a:rPr>
              <a:t>★ 3/5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18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・統合製品カタログページの有無不明　・製品比較が困難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18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統合製品カタログページを作成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19456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219456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柔軟性と効率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240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2/5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・サイト内検索機能が不明　・PDFスペックシートなし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700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サイト内検索バーを常設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24612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3246120"/>
            <a:ext cx="411480" cy="9784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" y="3520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審美的でミニマルなデザイン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2918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7C00"/>
                </a:solidFill>
              </a:rPr>
              <a:t>★ 3/5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216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・製品ページのレイアウト統一性不明　・ビジュアル訴求が弱い可能性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216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製品ページレイアウトを統一テンプレートで整備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29768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429768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エラーの認識・診断・回復を助ける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343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2/5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773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・カスタム404ページ不明　・フォームエラーハンドリング不明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73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カスタム404ページを作成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534924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" y="5349240"/>
            <a:ext cx="411480" cy="9784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" y="5623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ヘルプとドキュメント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7C00"/>
                </a:solidFill>
              </a:rPr>
              <a:t>★ 3/5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24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・FAQが新着情報ページに統合されており見つけにくい　・取扱説明書PDFダウンロード不明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824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FAQ専用ページを独立させる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優先改善提案 &amp; 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改善提案（優先度順）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457200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5544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販売終了製品の整理と代替製品へのリダイレクト設定（高優先度）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457200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331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サイト内検索機能の実装（ヘッダーに常設）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63240"/>
            <a:ext cx="45720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3108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パンくずリストとアクティブナビゲーション表示の実装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45720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3886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全URLをhttpsに統一、URL体系を整理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17720"/>
            <a:ext cx="457200" cy="5029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4663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モバイルレスポンシブ対応の確認・強化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097280"/>
            <a:ext cx="4480560" cy="5394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E3C"/>
                </a:solidFill>
              </a:rPr>
              <a:t>💡 改善による期待効果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173736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</a:rPr>
              <a:t>問い合わせ数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88E3C"/>
                </a:solidFill>
              </a:rPr>
              <a:t>2〜3倍増加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256032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</a:rPr>
              <a:t>直帰率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88E3C"/>
                </a:solidFill>
              </a:rPr>
              <a:t>20〜30%改善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338328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</a:rPr>
              <a:t>モバイル流入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429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88E3C"/>
                </a:solidFill>
              </a:rPr>
              <a:t>新規獲得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420624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</a:rPr>
              <a:t>採用コスト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88E3C"/>
                </a:solidFill>
              </a:rPr>
              <a:t>低減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502920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</a:rPr>
              <a:t>SEO順位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074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88E3C"/>
                </a:solidFill>
              </a:rPr>
              <a:t>向上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※ 本レポートはAgent Teamsによる自動生成です。営業提案資料としてご活用ください。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Before / After — 改善イメージ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00" cy="53949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</a:rPr>
              <a:t>😟 BEFORE（現状）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29200" cy="548640"/>
          </a:xfrm>
          <a:prstGeom prst="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スマートフォン非対応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5029200" cy="548640"/>
          </a:xfrm>
          <a:prstGeom prst="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英語ページなし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029200" cy="548640"/>
          </a:xfrm>
          <a:prstGeom prst="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SNSリンクなし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40"/>
            <a:ext cx="5029200" cy="548640"/>
          </a:xfrm>
          <a:prstGeom prst="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50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507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2025年末〜2026年初に主力製品が多数販売終了しており、製品ポートフォリオの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5029200" cy="548640"/>
          </a:xfrm>
          <a:prstGeom prst="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736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365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サイト内検索機能がなく、製品数が多いにも関わらず発見性が低い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5029200" cy="548640"/>
          </a:xfrm>
          <a:prstGeom prst="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422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223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英語ページが不在で、海外顧客へのアプローチが限定的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097280"/>
            <a:ext cx="5486400" cy="5394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8E3C"/>
                </a:solidFill>
              </a:rPr>
              <a:t>😊 AFTER（改善後）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920240"/>
            <a:ext cx="502920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1993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E3C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9933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24時間Webフォームで問い合わせ受付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606040"/>
            <a:ext cx="502920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6791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E3C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6791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スマートフォン完全対応デザイン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291840"/>
            <a:ext cx="502920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3649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E3C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3649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英語ページで海外からの問い合わせ対応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977640"/>
            <a:ext cx="502920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050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E3C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0507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採用ページで人材獲得コスト削減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663440"/>
            <a:ext cx="502920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4736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E3C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7365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SNS連携でブランド認知向上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5349240"/>
            <a:ext cx="502920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422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E3C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4223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FAQページでセルフサービス化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3291840"/>
            <a:ext cx="640080" cy="640080"/>
          </a:xfrm>
          <a:prstGeom prst="rect">
            <a:avLst/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3375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