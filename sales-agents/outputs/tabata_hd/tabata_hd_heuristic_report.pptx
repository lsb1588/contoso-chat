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7B3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0" y="0"/>
            <a:ext cx="5788152" cy="6858000"/>
          </a:xfrm>
          <a:prstGeom prst="rect">
            <a:avLst/>
          </a:prstGeom>
          <a:solidFill>
            <a:srgbClr val="BF6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2286000"/>
            <a:ext cx="91440" cy="2286000"/>
          </a:xfrm>
          <a:prstGeom prst="rect">
            <a:avLst/>
          </a:prstGeom>
          <a:solidFill>
            <a:srgbClr val="FFD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371600"/>
            <a:ext cx="7315200" cy="731520"/>
          </a:xfrm>
          <a:prstGeom prst="rect">
            <a:avLst/>
          </a:prstGeom>
          <a:noFill/>
        </p:spPr>
        <p:txBody>
          <a:bodyPr wrap="square">
            <a:spAutoFit/>
          </a:bodyPr>
          <a:lstStyle/>
          <a:p>
            <a:pPr algn="l"/>
            <a:r>
              <a:rPr sz="1800" b="0" i="0">
                <a:solidFill>
                  <a:srgbClr val="FFFFCC"/>
                </a:solidFill>
              </a:rPr>
              <a:t>ウェブサイト ヒューリスティック調査レポート</a:t>
            </a:r>
          </a:p>
        </p:txBody>
      </p:sp>
      <p:sp>
        <p:nvSpPr>
          <p:cNvPr id="6" name="TextBox 5"/>
          <p:cNvSpPr txBox="1"/>
          <p:nvPr/>
        </p:nvSpPr>
        <p:spPr>
          <a:xfrm>
            <a:off x="1188720" y="2103120"/>
            <a:ext cx="8229600" cy="1097280"/>
          </a:xfrm>
          <a:prstGeom prst="rect">
            <a:avLst/>
          </a:prstGeom>
          <a:noFill/>
        </p:spPr>
        <p:txBody>
          <a:bodyPr wrap="square">
            <a:spAutoFit/>
          </a:bodyPr>
          <a:lstStyle/>
          <a:p>
            <a:pPr algn="l"/>
            <a:r>
              <a:rPr sz="3600" b="1" i="0">
                <a:solidFill>
                  <a:srgbClr val="FFFFFF"/>
                </a:solidFill>
              </a:rPr>
              <a:t>株式会社タバタホールディングス</a:t>
            </a:r>
          </a:p>
        </p:txBody>
      </p:sp>
      <p:sp>
        <p:nvSpPr>
          <p:cNvPr id="7" name="TextBox 6"/>
          <p:cNvSpPr txBox="1"/>
          <p:nvPr/>
        </p:nvSpPr>
        <p:spPr>
          <a:xfrm>
            <a:off x="1188720" y="3474720"/>
            <a:ext cx="7315200" cy="548640"/>
          </a:xfrm>
          <a:prstGeom prst="rect">
            <a:avLst/>
          </a:prstGeom>
          <a:noFill/>
        </p:spPr>
        <p:txBody>
          <a:bodyPr wrap="square">
            <a:spAutoFit/>
          </a:bodyPr>
          <a:lstStyle/>
          <a:p>
            <a:pPr algn="l"/>
            <a:r>
              <a:rPr sz="1400" b="0" i="0">
                <a:solidFill>
                  <a:srgbClr val="CCDDFF"/>
                </a:solidFill>
              </a:rPr>
              <a:t>調査日: 2026-03-04　｜　ニールセン10原則準拠</a:t>
            </a:r>
          </a:p>
        </p:txBody>
      </p:sp>
      <p:sp>
        <p:nvSpPr>
          <p:cNvPr id="8" name="TextBox 7"/>
          <p:cNvSpPr txBox="1"/>
          <p:nvPr/>
        </p:nvSpPr>
        <p:spPr>
          <a:xfrm>
            <a:off x="1188720" y="4206240"/>
            <a:ext cx="2743200" cy="731520"/>
          </a:xfrm>
          <a:prstGeom prst="rect">
            <a:avLst/>
          </a:prstGeom>
          <a:noFill/>
        </p:spPr>
        <p:txBody>
          <a:bodyPr wrap="square">
            <a:spAutoFit/>
          </a:bodyPr>
          <a:lstStyle/>
          <a:p>
            <a:pPr algn="l"/>
            <a:r>
              <a:rPr sz="2000" b="1" i="0">
                <a:solidFill>
                  <a:srgbClr val="FFD600"/>
                </a:solidFill>
              </a:rPr>
              <a:t>総合スコア: 28/50点 (56%)</a:t>
            </a:r>
          </a:p>
        </p:txBody>
      </p:sp>
      <p:sp>
        <p:nvSpPr>
          <p:cNvPr id="9" name="TextBox 8"/>
          <p:cNvSpPr txBox="1"/>
          <p:nvPr/>
        </p:nvSpPr>
        <p:spPr>
          <a:xfrm>
            <a:off x="1188720" y="4937760"/>
            <a:ext cx="2743200" cy="457200"/>
          </a:xfrm>
          <a:prstGeom prst="rect">
            <a:avLst/>
          </a:prstGeom>
          <a:noFill/>
        </p:spPr>
        <p:txBody>
          <a:bodyPr wrap="square">
            <a:spAutoFit/>
          </a:bodyPr>
          <a:lstStyle/>
          <a:p>
            <a:pPr algn="l"/>
            <a:r>
              <a:rPr sz="1600" b="1" i="0">
                <a:solidFill>
                  <a:srgbClr val="F57C00"/>
                </a:solidFill>
              </a:rPr>
              <a:t>評価: C（要改善）</a:t>
            </a:r>
          </a:p>
        </p:txBody>
      </p:sp>
      <p:sp>
        <p:nvSpPr>
          <p:cNvPr id="10" name="TextBox 9"/>
          <p:cNvSpPr txBox="1"/>
          <p:nvPr/>
        </p:nvSpPr>
        <p:spPr>
          <a:xfrm>
            <a:off x="8686800" y="6217920"/>
            <a:ext cx="3200400" cy="365760"/>
          </a:xfrm>
          <a:prstGeom prst="rect">
            <a:avLst/>
          </a:prstGeom>
          <a:noFill/>
        </p:spPr>
        <p:txBody>
          <a:bodyPr wrap="square">
            <a:spAutoFit/>
          </a:bodyPr>
          <a:lstStyle/>
          <a:p>
            <a:pPr algn="r"/>
            <a:r>
              <a:rPr sz="900" b="0" i="0">
                <a:solidFill>
                  <a:srgbClr val="BBCCDD"/>
                </a:solidFill>
              </a:rPr>
              <a:t>Powered by Agent Teams | Sales Intelligence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7B3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9144000" cy="640080"/>
          </a:xfrm>
          <a:prstGeom prst="rect">
            <a:avLst/>
          </a:prstGeom>
          <a:noFill/>
        </p:spPr>
        <p:txBody>
          <a:bodyPr wrap="square">
            <a:spAutoFit/>
          </a:bodyPr>
          <a:lstStyle/>
          <a:p>
            <a:pPr algn="l"/>
            <a:r>
              <a:rPr sz="2400" b="1" i="0">
                <a:solidFill>
                  <a:srgbClr val="FFFFFF"/>
                </a:solidFill>
              </a:rPr>
              <a:t>サイト概要 &amp; チェックリスト</a:t>
            </a:r>
          </a:p>
        </p:txBody>
      </p:sp>
      <p:sp>
        <p:nvSpPr>
          <p:cNvPr id="4" name="Rectangle 3"/>
          <p:cNvSpPr/>
          <p:nvPr/>
        </p:nvSpPr>
        <p:spPr>
          <a:xfrm>
            <a:off x="274320" y="1188720"/>
            <a:ext cx="5303520" cy="25603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5029200" cy="457200"/>
          </a:xfrm>
          <a:prstGeom prst="rect">
            <a:avLst/>
          </a:prstGeom>
          <a:noFill/>
        </p:spPr>
        <p:txBody>
          <a:bodyPr wrap="square">
            <a:spAutoFit/>
          </a:bodyPr>
          <a:lstStyle/>
          <a:p>
            <a:pPr algn="l"/>
            <a:r>
              <a:rPr sz="1400" b="1" i="0">
                <a:solidFill>
                  <a:srgbClr val="7B3F00"/>
                </a:solidFill>
              </a:rPr>
              <a:t>企業基本情報</a:t>
            </a:r>
          </a:p>
        </p:txBody>
      </p:sp>
      <p:sp>
        <p:nvSpPr>
          <p:cNvPr id="6" name="TextBox 5"/>
          <p:cNvSpPr txBox="1"/>
          <p:nvPr/>
        </p:nvSpPr>
        <p:spPr>
          <a:xfrm>
            <a:off x="457200" y="1737360"/>
            <a:ext cx="5029200" cy="1828800"/>
          </a:xfrm>
          <a:prstGeom prst="rect">
            <a:avLst/>
          </a:prstGeom>
          <a:noFill/>
        </p:spPr>
        <p:txBody>
          <a:bodyPr wrap="square">
            <a:spAutoFit/>
          </a:bodyPr>
          <a:lstStyle/>
          <a:p>
            <a:pPr algn="l"/>
            <a:r>
              <a:rPr sz="1200" b="0" i="0">
                <a:solidFill>
                  <a:srgbClr val="1A1A2E"/>
                </a:solidFill>
              </a:rPr>
              <a:t>企業名: 株式会社タバタホールディングス
業種:   製菓食品ナッツ素材メーカー・輸入加工
URL:    https://www.tabatainc.co.jp/
最終更新: 2026年1月（レシピ・トピックスの最終公開日より）
総合スコア: 28/50点</a:t>
            </a:r>
          </a:p>
        </p:txBody>
      </p:sp>
      <p:sp>
        <p:nvSpPr>
          <p:cNvPr id="7" name="Rectangle 6"/>
          <p:cNvSpPr/>
          <p:nvPr/>
        </p:nvSpPr>
        <p:spPr>
          <a:xfrm>
            <a:off x="5943600" y="1188720"/>
            <a:ext cx="5760720" cy="25603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0" y="1280160"/>
            <a:ext cx="5303520" cy="457200"/>
          </a:xfrm>
          <a:prstGeom prst="rect">
            <a:avLst/>
          </a:prstGeom>
          <a:noFill/>
        </p:spPr>
        <p:txBody>
          <a:bodyPr wrap="square">
            <a:spAutoFit/>
          </a:bodyPr>
          <a:lstStyle/>
          <a:p>
            <a:pPr algn="l"/>
            <a:r>
              <a:rPr sz="1400" b="1" i="0">
                <a:solidFill>
                  <a:srgbClr val="7B3F00"/>
                </a:solidFill>
              </a:rPr>
              <a:t>機能チェックリスト</a:t>
            </a:r>
          </a:p>
        </p:txBody>
      </p:sp>
      <p:sp>
        <p:nvSpPr>
          <p:cNvPr id="9" name="TextBox 8"/>
          <p:cNvSpPr txBox="1"/>
          <p:nvPr/>
        </p:nvSpPr>
        <p:spPr>
          <a:xfrm>
            <a:off x="6126480" y="1783080"/>
            <a:ext cx="457200" cy="365760"/>
          </a:xfrm>
          <a:prstGeom prst="rect">
            <a:avLst/>
          </a:prstGeom>
          <a:noFill/>
        </p:spPr>
        <p:txBody>
          <a:bodyPr wrap="square">
            <a:spAutoFit/>
          </a:bodyPr>
          <a:lstStyle/>
          <a:p>
            <a:pPr algn="l"/>
            <a:r>
              <a:rPr sz="1300" b="0" i="0">
                <a:solidFill>
                  <a:srgbClr val="388E3C"/>
                </a:solidFill>
              </a:rPr>
              <a:t>✅</a:t>
            </a:r>
          </a:p>
        </p:txBody>
      </p:sp>
      <p:sp>
        <p:nvSpPr>
          <p:cNvPr id="10" name="TextBox 9"/>
          <p:cNvSpPr txBox="1"/>
          <p:nvPr/>
        </p:nvSpPr>
        <p:spPr>
          <a:xfrm>
            <a:off x="6583680" y="1783080"/>
            <a:ext cx="4572000" cy="365760"/>
          </a:xfrm>
          <a:prstGeom prst="rect">
            <a:avLst/>
          </a:prstGeom>
          <a:noFill/>
        </p:spPr>
        <p:txBody>
          <a:bodyPr wrap="square">
            <a:spAutoFit/>
          </a:bodyPr>
          <a:lstStyle/>
          <a:p>
            <a:pPr algn="l"/>
            <a:r>
              <a:rPr sz="1200" b="0" i="0">
                <a:solidFill>
                  <a:srgbClr val="1A1A2E"/>
                </a:solidFill>
              </a:rPr>
              <a:t>お問い合わせフォーム</a:t>
            </a:r>
          </a:p>
        </p:txBody>
      </p:sp>
      <p:sp>
        <p:nvSpPr>
          <p:cNvPr id="11" name="TextBox 10"/>
          <p:cNvSpPr txBox="1"/>
          <p:nvPr/>
        </p:nvSpPr>
        <p:spPr>
          <a:xfrm>
            <a:off x="6126480" y="2194560"/>
            <a:ext cx="457200" cy="365760"/>
          </a:xfrm>
          <a:prstGeom prst="rect">
            <a:avLst/>
          </a:prstGeom>
          <a:noFill/>
        </p:spPr>
        <p:txBody>
          <a:bodyPr wrap="square">
            <a:spAutoFit/>
          </a:bodyPr>
          <a:lstStyle/>
          <a:p>
            <a:pPr algn="l"/>
            <a:r>
              <a:rPr sz="1300" b="0" i="0">
                <a:solidFill>
                  <a:srgbClr val="F57C00"/>
                </a:solidFill>
              </a:rPr>
              <a:t>⚠️</a:t>
            </a:r>
          </a:p>
        </p:txBody>
      </p:sp>
      <p:sp>
        <p:nvSpPr>
          <p:cNvPr id="12" name="TextBox 11"/>
          <p:cNvSpPr txBox="1"/>
          <p:nvPr/>
        </p:nvSpPr>
        <p:spPr>
          <a:xfrm>
            <a:off x="6583680" y="2194560"/>
            <a:ext cx="4572000" cy="365760"/>
          </a:xfrm>
          <a:prstGeom prst="rect">
            <a:avLst/>
          </a:prstGeom>
          <a:noFill/>
        </p:spPr>
        <p:txBody>
          <a:bodyPr wrap="square">
            <a:spAutoFit/>
          </a:bodyPr>
          <a:lstStyle/>
          <a:p>
            <a:pPr algn="l"/>
            <a:r>
              <a:rPr sz="1200" b="0" i="0">
                <a:solidFill>
                  <a:srgbClr val="1A1A2E"/>
                </a:solidFill>
              </a:rPr>
              <a:t>スマートフォン対応</a:t>
            </a:r>
          </a:p>
        </p:txBody>
      </p:sp>
      <p:sp>
        <p:nvSpPr>
          <p:cNvPr id="13" name="TextBox 12"/>
          <p:cNvSpPr txBox="1"/>
          <p:nvPr/>
        </p:nvSpPr>
        <p:spPr>
          <a:xfrm>
            <a:off x="6126480" y="2606040"/>
            <a:ext cx="457200" cy="365760"/>
          </a:xfrm>
          <a:prstGeom prst="rect">
            <a:avLst/>
          </a:prstGeom>
          <a:noFill/>
        </p:spPr>
        <p:txBody>
          <a:bodyPr wrap="square">
            <a:spAutoFit/>
          </a:bodyPr>
          <a:lstStyle/>
          <a:p>
            <a:pPr algn="l"/>
            <a:r>
              <a:rPr sz="1300" b="0" i="0">
                <a:solidFill>
                  <a:srgbClr val="388E3C"/>
                </a:solidFill>
              </a:rPr>
              <a:t>✅</a:t>
            </a:r>
          </a:p>
        </p:txBody>
      </p:sp>
      <p:sp>
        <p:nvSpPr>
          <p:cNvPr id="14" name="TextBox 13"/>
          <p:cNvSpPr txBox="1"/>
          <p:nvPr/>
        </p:nvSpPr>
        <p:spPr>
          <a:xfrm>
            <a:off x="6583680" y="2606040"/>
            <a:ext cx="4572000" cy="365760"/>
          </a:xfrm>
          <a:prstGeom prst="rect">
            <a:avLst/>
          </a:prstGeom>
          <a:noFill/>
        </p:spPr>
        <p:txBody>
          <a:bodyPr wrap="square">
            <a:spAutoFit/>
          </a:bodyPr>
          <a:lstStyle/>
          <a:p>
            <a:pPr algn="l"/>
            <a:r>
              <a:rPr sz="1200" b="0" i="0">
                <a:solidFill>
                  <a:srgbClr val="1A1A2E"/>
                </a:solidFill>
              </a:rPr>
              <a:t>英語ページ</a:t>
            </a:r>
          </a:p>
        </p:txBody>
      </p:sp>
      <p:sp>
        <p:nvSpPr>
          <p:cNvPr id="15" name="TextBox 14"/>
          <p:cNvSpPr txBox="1"/>
          <p:nvPr/>
        </p:nvSpPr>
        <p:spPr>
          <a:xfrm>
            <a:off x="6126480" y="3017520"/>
            <a:ext cx="457200" cy="365760"/>
          </a:xfrm>
          <a:prstGeom prst="rect">
            <a:avLst/>
          </a:prstGeom>
          <a:noFill/>
        </p:spPr>
        <p:txBody>
          <a:bodyPr wrap="square">
            <a:spAutoFit/>
          </a:bodyPr>
          <a:lstStyle/>
          <a:p>
            <a:pPr algn="l"/>
            <a:r>
              <a:rPr sz="1300" b="0" i="0">
                <a:solidFill>
                  <a:srgbClr val="388E3C"/>
                </a:solidFill>
              </a:rPr>
              <a:t>✅</a:t>
            </a:r>
          </a:p>
        </p:txBody>
      </p:sp>
      <p:sp>
        <p:nvSpPr>
          <p:cNvPr id="16" name="TextBox 15"/>
          <p:cNvSpPr txBox="1"/>
          <p:nvPr/>
        </p:nvSpPr>
        <p:spPr>
          <a:xfrm>
            <a:off x="6583680" y="3017520"/>
            <a:ext cx="4572000" cy="365760"/>
          </a:xfrm>
          <a:prstGeom prst="rect">
            <a:avLst/>
          </a:prstGeom>
          <a:noFill/>
        </p:spPr>
        <p:txBody>
          <a:bodyPr wrap="square">
            <a:spAutoFit/>
          </a:bodyPr>
          <a:lstStyle/>
          <a:p>
            <a:pPr algn="l"/>
            <a:r>
              <a:rPr sz="1200" b="0" i="0">
                <a:solidFill>
                  <a:srgbClr val="1A1A2E"/>
                </a:solidFill>
              </a:rPr>
              <a:t>採用ページ（自社）</a:t>
            </a:r>
          </a:p>
        </p:txBody>
      </p:sp>
      <p:sp>
        <p:nvSpPr>
          <p:cNvPr id="17" name="TextBox 16"/>
          <p:cNvSpPr txBox="1"/>
          <p:nvPr/>
        </p:nvSpPr>
        <p:spPr>
          <a:xfrm>
            <a:off x="6126480" y="3429000"/>
            <a:ext cx="457200" cy="365760"/>
          </a:xfrm>
          <a:prstGeom prst="rect">
            <a:avLst/>
          </a:prstGeom>
          <a:noFill/>
        </p:spPr>
        <p:txBody>
          <a:bodyPr wrap="square">
            <a:spAutoFit/>
          </a:bodyPr>
          <a:lstStyle/>
          <a:p>
            <a:pPr algn="l"/>
            <a:r>
              <a:rPr sz="1300" b="0" i="0">
                <a:solidFill>
                  <a:srgbClr val="D32F2F"/>
                </a:solidFill>
              </a:rPr>
              <a:t>❌</a:t>
            </a:r>
          </a:p>
        </p:txBody>
      </p:sp>
      <p:sp>
        <p:nvSpPr>
          <p:cNvPr id="18" name="TextBox 17"/>
          <p:cNvSpPr txBox="1"/>
          <p:nvPr/>
        </p:nvSpPr>
        <p:spPr>
          <a:xfrm>
            <a:off x="6583680" y="3429000"/>
            <a:ext cx="4572000" cy="365760"/>
          </a:xfrm>
          <a:prstGeom prst="rect">
            <a:avLst/>
          </a:prstGeom>
          <a:noFill/>
        </p:spPr>
        <p:txBody>
          <a:bodyPr wrap="square">
            <a:spAutoFit/>
          </a:bodyPr>
          <a:lstStyle/>
          <a:p>
            <a:pPr algn="l"/>
            <a:r>
              <a:rPr sz="1200" b="0" i="0">
                <a:solidFill>
                  <a:srgbClr val="1A1A2E"/>
                </a:solidFill>
              </a:rPr>
              <a:t>SNSリンク</a:t>
            </a:r>
          </a:p>
        </p:txBody>
      </p:sp>
      <p:sp>
        <p:nvSpPr>
          <p:cNvPr id="19" name="Rectangle 18"/>
          <p:cNvSpPr/>
          <p:nvPr/>
        </p:nvSpPr>
        <p:spPr>
          <a:xfrm>
            <a:off x="274320" y="3931920"/>
            <a:ext cx="11430000" cy="265176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023360"/>
            <a:ext cx="4572000" cy="457200"/>
          </a:xfrm>
          <a:prstGeom prst="rect">
            <a:avLst/>
          </a:prstGeom>
          <a:noFill/>
        </p:spPr>
        <p:txBody>
          <a:bodyPr wrap="square">
            <a:spAutoFit/>
          </a:bodyPr>
          <a:lstStyle/>
          <a:p>
            <a:pPr algn="l"/>
            <a:r>
              <a:rPr sz="1400" b="1" i="0">
                <a:solidFill>
                  <a:srgbClr val="D32F2F"/>
                </a:solidFill>
              </a:rPr>
              <a:t>🔥 主要課題 TOP5</a:t>
            </a:r>
          </a:p>
        </p:txBody>
      </p:sp>
      <p:sp>
        <p:nvSpPr>
          <p:cNvPr id="21" name="TextBox 20"/>
          <p:cNvSpPr txBox="1"/>
          <p:nvPr/>
        </p:nvSpPr>
        <p:spPr>
          <a:xfrm>
            <a:off x="548640" y="4480560"/>
            <a:ext cx="365760" cy="365760"/>
          </a:xfrm>
          <a:prstGeom prst="rect">
            <a:avLst/>
          </a:prstGeom>
          <a:noFill/>
        </p:spPr>
        <p:txBody>
          <a:bodyPr wrap="square">
            <a:spAutoFit/>
          </a:bodyPr>
          <a:lstStyle/>
          <a:p>
            <a:pPr algn="l"/>
            <a:r>
              <a:rPr sz="1100" b="1" i="0">
                <a:solidFill>
                  <a:srgbClr val="D32F2F"/>
                </a:solidFill>
              </a:rPr>
              <a:t>1.</a:t>
            </a:r>
          </a:p>
        </p:txBody>
      </p:sp>
      <p:sp>
        <p:nvSpPr>
          <p:cNvPr id="22" name="TextBox 21"/>
          <p:cNvSpPr txBox="1"/>
          <p:nvPr/>
        </p:nvSpPr>
        <p:spPr>
          <a:xfrm>
            <a:off x="914400" y="4480560"/>
            <a:ext cx="10515600" cy="365760"/>
          </a:xfrm>
          <a:prstGeom prst="rect">
            <a:avLst/>
          </a:prstGeom>
          <a:noFill/>
        </p:spPr>
        <p:txBody>
          <a:bodyPr wrap="square">
            <a:spAutoFit/>
          </a:bodyPr>
          <a:lstStyle/>
          <a:p>
            <a:pPr algn="l"/>
            <a:r>
              <a:rPr sz="1100" b="0" i="0">
                <a:solidFill>
                  <a:srgbClr val="1A1A2E"/>
                </a:solidFill>
              </a:rPr>
              <a:t>サイトがクローラー・ボットをブロック（403）しており、SEOクローラビリティに悪影響の可能性</a:t>
            </a:r>
          </a:p>
        </p:txBody>
      </p:sp>
      <p:sp>
        <p:nvSpPr>
          <p:cNvPr id="23" name="TextBox 22"/>
          <p:cNvSpPr txBox="1"/>
          <p:nvPr/>
        </p:nvSpPr>
        <p:spPr>
          <a:xfrm>
            <a:off x="548640" y="4873752"/>
            <a:ext cx="365760" cy="365760"/>
          </a:xfrm>
          <a:prstGeom prst="rect">
            <a:avLst/>
          </a:prstGeom>
          <a:noFill/>
        </p:spPr>
        <p:txBody>
          <a:bodyPr wrap="square">
            <a:spAutoFit/>
          </a:bodyPr>
          <a:lstStyle/>
          <a:p>
            <a:pPr algn="l"/>
            <a:r>
              <a:rPr sz="1100" b="1" i="0">
                <a:solidFill>
                  <a:srgbClr val="D32F2F"/>
                </a:solidFill>
              </a:rPr>
              <a:t>2.</a:t>
            </a:r>
          </a:p>
        </p:txBody>
      </p:sp>
      <p:sp>
        <p:nvSpPr>
          <p:cNvPr id="24" name="TextBox 23"/>
          <p:cNvSpPr txBox="1"/>
          <p:nvPr/>
        </p:nvSpPr>
        <p:spPr>
          <a:xfrm>
            <a:off x="914400" y="4873752"/>
            <a:ext cx="10515600" cy="365760"/>
          </a:xfrm>
          <a:prstGeom prst="rect">
            <a:avLst/>
          </a:prstGeom>
          <a:noFill/>
        </p:spPr>
        <p:txBody>
          <a:bodyPr wrap="square">
            <a:spAutoFit/>
          </a:bodyPr>
          <a:lstStyle/>
          <a:p>
            <a:pPr algn="l"/>
            <a:r>
              <a:rPr sz="1100" b="0" i="0">
                <a:solidFill>
                  <a:srgbClr val="1A1A2E"/>
                </a:solidFill>
              </a:rPr>
              <a:t>サイト内検索機能が確認できず、豊富なコンテンツへのアクセス効率が低い</a:t>
            </a:r>
          </a:p>
        </p:txBody>
      </p:sp>
      <p:sp>
        <p:nvSpPr>
          <p:cNvPr id="25" name="TextBox 24"/>
          <p:cNvSpPr txBox="1"/>
          <p:nvPr/>
        </p:nvSpPr>
        <p:spPr>
          <a:xfrm>
            <a:off x="548640" y="5266944"/>
            <a:ext cx="365760" cy="365760"/>
          </a:xfrm>
          <a:prstGeom prst="rect">
            <a:avLst/>
          </a:prstGeom>
          <a:noFill/>
        </p:spPr>
        <p:txBody>
          <a:bodyPr wrap="square">
            <a:spAutoFit/>
          </a:bodyPr>
          <a:lstStyle/>
          <a:p>
            <a:pPr algn="l"/>
            <a:r>
              <a:rPr sz="1100" b="1" i="0">
                <a:solidFill>
                  <a:srgbClr val="D32F2F"/>
                </a:solidFill>
              </a:rPr>
              <a:t>3.</a:t>
            </a:r>
          </a:p>
        </p:txBody>
      </p:sp>
      <p:sp>
        <p:nvSpPr>
          <p:cNvPr id="26" name="TextBox 25"/>
          <p:cNvSpPr txBox="1"/>
          <p:nvPr/>
        </p:nvSpPr>
        <p:spPr>
          <a:xfrm>
            <a:off x="914400" y="5266944"/>
            <a:ext cx="10515600" cy="365760"/>
          </a:xfrm>
          <a:prstGeom prst="rect">
            <a:avLst/>
          </a:prstGeom>
          <a:noFill/>
        </p:spPr>
        <p:txBody>
          <a:bodyPr wrap="square">
            <a:spAutoFit/>
          </a:bodyPr>
          <a:lstStyle/>
          <a:p>
            <a:pPr algn="l"/>
            <a:r>
              <a:rPr sz="1100" b="0" i="0">
                <a:solidFill>
                  <a:srgbClr val="1A1A2E"/>
                </a:solidFill>
              </a:rPr>
              <a:t>SNSリンクが確認できず、コンテンツマーケティングの拡散機会を逃している</a:t>
            </a:r>
          </a:p>
        </p:txBody>
      </p:sp>
      <p:sp>
        <p:nvSpPr>
          <p:cNvPr id="27" name="TextBox 26"/>
          <p:cNvSpPr txBox="1"/>
          <p:nvPr/>
        </p:nvSpPr>
        <p:spPr>
          <a:xfrm>
            <a:off x="548640" y="5660136"/>
            <a:ext cx="365760" cy="365760"/>
          </a:xfrm>
          <a:prstGeom prst="rect">
            <a:avLst/>
          </a:prstGeom>
          <a:noFill/>
        </p:spPr>
        <p:txBody>
          <a:bodyPr wrap="square">
            <a:spAutoFit/>
          </a:bodyPr>
          <a:lstStyle/>
          <a:p>
            <a:pPr algn="l"/>
            <a:r>
              <a:rPr sz="1100" b="1" i="0">
                <a:solidFill>
                  <a:srgbClr val="D32F2F"/>
                </a:solidFill>
              </a:rPr>
              <a:t>4.</a:t>
            </a:r>
          </a:p>
        </p:txBody>
      </p:sp>
      <p:sp>
        <p:nvSpPr>
          <p:cNvPr id="28" name="TextBox 27"/>
          <p:cNvSpPr txBox="1"/>
          <p:nvPr/>
        </p:nvSpPr>
        <p:spPr>
          <a:xfrm>
            <a:off x="914400" y="5660136"/>
            <a:ext cx="10515600" cy="365760"/>
          </a:xfrm>
          <a:prstGeom prst="rect">
            <a:avLst/>
          </a:prstGeom>
          <a:noFill/>
        </p:spPr>
        <p:txBody>
          <a:bodyPr wrap="square">
            <a:spAutoFit/>
          </a:bodyPr>
          <a:lstStyle/>
          <a:p>
            <a:pPr algn="l"/>
            <a:r>
              <a:rPr sz="1100" b="0" i="0">
                <a:solidFill>
                  <a:srgbClr val="1A1A2E"/>
                </a:solidFill>
              </a:rPr>
              <a:t>FAQページが確認できず、B2B取引における一般的疑問への回答が不足</a:t>
            </a:r>
          </a:p>
        </p:txBody>
      </p:sp>
      <p:sp>
        <p:nvSpPr>
          <p:cNvPr id="29" name="TextBox 28"/>
          <p:cNvSpPr txBox="1"/>
          <p:nvPr/>
        </p:nvSpPr>
        <p:spPr>
          <a:xfrm>
            <a:off x="548640" y="6053328"/>
            <a:ext cx="365760" cy="365760"/>
          </a:xfrm>
          <a:prstGeom prst="rect">
            <a:avLst/>
          </a:prstGeom>
          <a:noFill/>
        </p:spPr>
        <p:txBody>
          <a:bodyPr wrap="square">
            <a:spAutoFit/>
          </a:bodyPr>
          <a:lstStyle/>
          <a:p>
            <a:pPr algn="l"/>
            <a:r>
              <a:rPr sz="1100" b="1" i="0">
                <a:solidFill>
                  <a:srgbClr val="D32F2F"/>
                </a:solidFill>
              </a:rPr>
              <a:t>5.</a:t>
            </a:r>
          </a:p>
        </p:txBody>
      </p:sp>
      <p:sp>
        <p:nvSpPr>
          <p:cNvPr id="30" name="TextBox 29"/>
          <p:cNvSpPr txBox="1"/>
          <p:nvPr/>
        </p:nvSpPr>
        <p:spPr>
          <a:xfrm>
            <a:off x="914400" y="6053328"/>
            <a:ext cx="10515600" cy="365760"/>
          </a:xfrm>
          <a:prstGeom prst="rect">
            <a:avLst/>
          </a:prstGeom>
          <a:noFill/>
        </p:spPr>
        <p:txBody>
          <a:bodyPr wrap="square">
            <a:spAutoFit/>
          </a:bodyPr>
          <a:lstStyle/>
          <a:p>
            <a:pPr algn="l"/>
            <a:r>
              <a:rPr sz="1100" b="0" i="0">
                <a:solidFill>
                  <a:srgbClr val="1A1A2E"/>
                </a:solidFill>
              </a:rPr>
              <a:t>問い合わせフォームのバリデーション品質・エラー回復の仕組みが不明</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7B3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0972800" cy="640080"/>
          </a:xfrm>
          <a:prstGeom prst="rect">
            <a:avLst/>
          </a:prstGeom>
          <a:noFill/>
        </p:spPr>
        <p:txBody>
          <a:bodyPr wrap="square">
            <a:spAutoFit/>
          </a:bodyPr>
          <a:lstStyle/>
          <a:p>
            <a:pPr algn="l"/>
            <a:r>
              <a:rPr sz="2400" b="1" i="0">
                <a:solidFill>
                  <a:srgbClr val="FFFFFF"/>
                </a:solidFill>
              </a:rPr>
              <a:t>ニールセン10原則 スコアカード</a:t>
            </a:r>
          </a:p>
        </p:txBody>
      </p:sp>
      <p:sp>
        <p:nvSpPr>
          <p:cNvPr id="4" name="Rectangle 3"/>
          <p:cNvSpPr/>
          <p:nvPr/>
        </p:nvSpPr>
        <p:spPr>
          <a:xfrm>
            <a:off x="274320" y="1188720"/>
            <a:ext cx="5669280" cy="914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34440"/>
            <a:ext cx="365760" cy="365760"/>
          </a:xfrm>
          <a:prstGeom prst="rect">
            <a:avLst/>
          </a:prstGeom>
          <a:noFill/>
        </p:spPr>
        <p:txBody>
          <a:bodyPr wrap="square">
            <a:spAutoFit/>
          </a:bodyPr>
          <a:lstStyle/>
          <a:p>
            <a:pPr algn="l"/>
            <a:r>
              <a:rPr sz="1100" b="1" i="0">
                <a:solidFill>
                  <a:srgbClr val="7B3F00"/>
                </a:solidFill>
              </a:rPr>
              <a:t>1.</a:t>
            </a:r>
          </a:p>
        </p:txBody>
      </p:sp>
      <p:sp>
        <p:nvSpPr>
          <p:cNvPr id="6" name="TextBox 5"/>
          <p:cNvSpPr txBox="1"/>
          <p:nvPr/>
        </p:nvSpPr>
        <p:spPr>
          <a:xfrm>
            <a:off x="731520" y="1234440"/>
            <a:ext cx="3017520" cy="365760"/>
          </a:xfrm>
          <a:prstGeom prst="rect">
            <a:avLst/>
          </a:prstGeom>
          <a:noFill/>
        </p:spPr>
        <p:txBody>
          <a:bodyPr wrap="square">
            <a:spAutoFit/>
          </a:bodyPr>
          <a:lstStyle/>
          <a:p>
            <a:pPr algn="l"/>
            <a:r>
              <a:rPr sz="1100" b="1" i="0">
                <a:solidFill>
                  <a:srgbClr val="1A1A2E"/>
                </a:solidFill>
              </a:rPr>
              <a:t>システム状態の可視性</a:t>
            </a:r>
          </a:p>
        </p:txBody>
      </p:sp>
      <p:sp>
        <p:nvSpPr>
          <p:cNvPr id="7" name="TextBox 6"/>
          <p:cNvSpPr txBox="1"/>
          <p:nvPr/>
        </p:nvSpPr>
        <p:spPr>
          <a:xfrm>
            <a:off x="4846320" y="1234440"/>
            <a:ext cx="914400" cy="365760"/>
          </a:xfrm>
          <a:prstGeom prst="rect">
            <a:avLst/>
          </a:prstGeom>
          <a:noFill/>
        </p:spPr>
        <p:txBody>
          <a:bodyPr wrap="square">
            <a:spAutoFit/>
          </a:bodyPr>
          <a:lstStyle/>
          <a:p>
            <a:pPr algn="r"/>
            <a:r>
              <a:rPr sz="1300" b="1" i="0">
                <a:solidFill>
                  <a:srgbClr val="D32F2F"/>
                </a:solidFill>
              </a:rPr>
              <a:t>2/5</a:t>
            </a:r>
          </a:p>
        </p:txBody>
      </p:sp>
      <p:sp>
        <p:nvSpPr>
          <p:cNvPr id="8" name="Rectangle 7"/>
          <p:cNvSpPr/>
          <p:nvPr/>
        </p:nvSpPr>
        <p:spPr>
          <a:xfrm>
            <a:off x="731520" y="1691640"/>
            <a:ext cx="3200400" cy="18288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691640"/>
            <a:ext cx="1280160" cy="182880"/>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01952"/>
            <a:ext cx="5029200" cy="228600"/>
          </a:xfrm>
          <a:prstGeom prst="rect">
            <a:avLst/>
          </a:prstGeom>
          <a:noFill/>
        </p:spPr>
        <p:txBody>
          <a:bodyPr wrap="square">
            <a:spAutoFit/>
          </a:bodyPr>
          <a:lstStyle/>
          <a:p>
            <a:pPr algn="l"/>
            <a:r>
              <a:rPr sz="900" b="0" i="1">
                <a:solidFill>
                  <a:srgbClr val="787878"/>
                </a:solidFill>
              </a:rPr>
              <a:t>→ 問い合わせフォーム送信後の確認・自動返信の有無が不明</a:t>
            </a:r>
          </a:p>
        </p:txBody>
      </p:sp>
      <p:sp>
        <p:nvSpPr>
          <p:cNvPr id="11" name="Rectangle 10"/>
          <p:cNvSpPr/>
          <p:nvPr/>
        </p:nvSpPr>
        <p:spPr>
          <a:xfrm>
            <a:off x="6217920" y="1188720"/>
            <a:ext cx="5669280" cy="914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234440"/>
            <a:ext cx="365760" cy="365760"/>
          </a:xfrm>
          <a:prstGeom prst="rect">
            <a:avLst/>
          </a:prstGeom>
          <a:noFill/>
        </p:spPr>
        <p:txBody>
          <a:bodyPr wrap="square">
            <a:spAutoFit/>
          </a:bodyPr>
          <a:lstStyle/>
          <a:p>
            <a:pPr algn="l"/>
            <a:r>
              <a:rPr sz="1100" b="1" i="0">
                <a:solidFill>
                  <a:srgbClr val="7B3F00"/>
                </a:solidFill>
              </a:rPr>
              <a:t>2.</a:t>
            </a:r>
          </a:p>
        </p:txBody>
      </p:sp>
      <p:sp>
        <p:nvSpPr>
          <p:cNvPr id="13" name="TextBox 12"/>
          <p:cNvSpPr txBox="1"/>
          <p:nvPr/>
        </p:nvSpPr>
        <p:spPr>
          <a:xfrm>
            <a:off x="6675120" y="1234440"/>
            <a:ext cx="3017520" cy="365760"/>
          </a:xfrm>
          <a:prstGeom prst="rect">
            <a:avLst/>
          </a:prstGeom>
          <a:noFill/>
        </p:spPr>
        <p:txBody>
          <a:bodyPr wrap="square">
            <a:spAutoFit/>
          </a:bodyPr>
          <a:lstStyle/>
          <a:p>
            <a:pPr algn="l"/>
            <a:r>
              <a:rPr sz="1100" b="1" i="0">
                <a:solidFill>
                  <a:srgbClr val="1A1A2E"/>
                </a:solidFill>
              </a:rPr>
              <a:t>システムと現実の対応</a:t>
            </a:r>
          </a:p>
        </p:txBody>
      </p:sp>
      <p:sp>
        <p:nvSpPr>
          <p:cNvPr id="14" name="TextBox 13"/>
          <p:cNvSpPr txBox="1"/>
          <p:nvPr/>
        </p:nvSpPr>
        <p:spPr>
          <a:xfrm>
            <a:off x="10789920" y="1234440"/>
            <a:ext cx="914400" cy="365760"/>
          </a:xfrm>
          <a:prstGeom prst="rect">
            <a:avLst/>
          </a:prstGeom>
          <a:noFill/>
        </p:spPr>
        <p:txBody>
          <a:bodyPr wrap="square">
            <a:spAutoFit/>
          </a:bodyPr>
          <a:lstStyle/>
          <a:p>
            <a:pPr algn="r"/>
            <a:r>
              <a:rPr sz="1300" b="1" i="0">
                <a:solidFill>
                  <a:srgbClr val="388E3C"/>
                </a:solidFill>
              </a:rPr>
              <a:t>4/5</a:t>
            </a:r>
          </a:p>
        </p:txBody>
      </p:sp>
      <p:sp>
        <p:nvSpPr>
          <p:cNvPr id="15" name="Rectangle 14"/>
          <p:cNvSpPr/>
          <p:nvPr/>
        </p:nvSpPr>
        <p:spPr>
          <a:xfrm>
            <a:off x="6675120" y="1691640"/>
            <a:ext cx="3200400" cy="18288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675120" y="1691640"/>
            <a:ext cx="2560320" cy="182880"/>
          </a:xfrm>
          <a:prstGeom prst="rect">
            <a:avLst/>
          </a:prstGeom>
          <a:solidFill>
            <a:srgbClr val="388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0" y="1901952"/>
            <a:ext cx="5029200" cy="228600"/>
          </a:xfrm>
          <a:prstGeom prst="rect">
            <a:avLst/>
          </a:prstGeom>
          <a:noFill/>
        </p:spPr>
        <p:txBody>
          <a:bodyPr wrap="square">
            <a:spAutoFit/>
          </a:bodyPr>
          <a:lstStyle/>
          <a:p>
            <a:pPr algn="l"/>
            <a:r>
              <a:rPr sz="900" b="0" i="1">
                <a:solidFill>
                  <a:srgbClr val="787878"/>
                </a:solidFill>
              </a:rPr>
              <a:t>→ URLパス（/html/product/almond.html）が技術的命名で一般ユーザー…</a:t>
            </a:r>
          </a:p>
        </p:txBody>
      </p:sp>
      <p:sp>
        <p:nvSpPr>
          <p:cNvPr id="18" name="Rectangle 17"/>
          <p:cNvSpPr/>
          <p:nvPr/>
        </p:nvSpPr>
        <p:spPr>
          <a:xfrm>
            <a:off x="274320" y="2240280"/>
            <a:ext cx="5669280" cy="914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2286000"/>
            <a:ext cx="365760" cy="365760"/>
          </a:xfrm>
          <a:prstGeom prst="rect">
            <a:avLst/>
          </a:prstGeom>
          <a:noFill/>
        </p:spPr>
        <p:txBody>
          <a:bodyPr wrap="square">
            <a:spAutoFit/>
          </a:bodyPr>
          <a:lstStyle/>
          <a:p>
            <a:pPr algn="l"/>
            <a:r>
              <a:rPr sz="1100" b="1" i="0">
                <a:solidFill>
                  <a:srgbClr val="7B3F00"/>
                </a:solidFill>
              </a:rPr>
              <a:t>3.</a:t>
            </a:r>
          </a:p>
        </p:txBody>
      </p:sp>
      <p:sp>
        <p:nvSpPr>
          <p:cNvPr id="20" name="TextBox 19"/>
          <p:cNvSpPr txBox="1"/>
          <p:nvPr/>
        </p:nvSpPr>
        <p:spPr>
          <a:xfrm>
            <a:off x="731520" y="2286000"/>
            <a:ext cx="3017520" cy="365760"/>
          </a:xfrm>
          <a:prstGeom prst="rect">
            <a:avLst/>
          </a:prstGeom>
          <a:noFill/>
        </p:spPr>
        <p:txBody>
          <a:bodyPr wrap="square">
            <a:spAutoFit/>
          </a:bodyPr>
          <a:lstStyle/>
          <a:p>
            <a:pPr algn="l"/>
            <a:r>
              <a:rPr sz="1100" b="1" i="0">
                <a:solidFill>
                  <a:srgbClr val="1A1A2E"/>
                </a:solidFill>
              </a:rPr>
              <a:t>ユーザーコントロールと自由</a:t>
            </a:r>
          </a:p>
        </p:txBody>
      </p:sp>
      <p:sp>
        <p:nvSpPr>
          <p:cNvPr id="21" name="TextBox 20"/>
          <p:cNvSpPr txBox="1"/>
          <p:nvPr/>
        </p:nvSpPr>
        <p:spPr>
          <a:xfrm>
            <a:off x="4846320" y="2286000"/>
            <a:ext cx="914400" cy="365760"/>
          </a:xfrm>
          <a:prstGeom prst="rect">
            <a:avLst/>
          </a:prstGeom>
          <a:noFill/>
        </p:spPr>
        <p:txBody>
          <a:bodyPr wrap="square">
            <a:spAutoFit/>
          </a:bodyPr>
          <a:lstStyle/>
          <a:p>
            <a:pPr algn="r"/>
            <a:r>
              <a:rPr sz="1300" b="1" i="0">
                <a:solidFill>
                  <a:srgbClr val="F57C00"/>
                </a:solidFill>
              </a:rPr>
              <a:t>3/5</a:t>
            </a:r>
          </a:p>
        </p:txBody>
      </p:sp>
      <p:sp>
        <p:nvSpPr>
          <p:cNvPr id="22" name="Rectangle 21"/>
          <p:cNvSpPr/>
          <p:nvPr/>
        </p:nvSpPr>
        <p:spPr>
          <a:xfrm>
            <a:off x="731520" y="2743200"/>
            <a:ext cx="3200400" cy="18288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 y="2743200"/>
            <a:ext cx="1920240" cy="18288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2953512"/>
            <a:ext cx="5029200" cy="228600"/>
          </a:xfrm>
          <a:prstGeom prst="rect">
            <a:avLst/>
          </a:prstGeom>
          <a:noFill/>
        </p:spPr>
        <p:txBody>
          <a:bodyPr wrap="square">
            <a:spAutoFit/>
          </a:bodyPr>
          <a:lstStyle/>
          <a:p>
            <a:pPr algn="l"/>
            <a:r>
              <a:rPr sz="900" b="0" i="1">
                <a:solidFill>
                  <a:srgbClr val="787878"/>
                </a:solidFill>
              </a:rPr>
              <a:t>→ サイト内検索機能の有無が不明</a:t>
            </a:r>
          </a:p>
        </p:txBody>
      </p:sp>
      <p:sp>
        <p:nvSpPr>
          <p:cNvPr id="25" name="Rectangle 24"/>
          <p:cNvSpPr/>
          <p:nvPr/>
        </p:nvSpPr>
        <p:spPr>
          <a:xfrm>
            <a:off x="6217920" y="2240280"/>
            <a:ext cx="5669280" cy="914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2286000"/>
            <a:ext cx="365760" cy="365760"/>
          </a:xfrm>
          <a:prstGeom prst="rect">
            <a:avLst/>
          </a:prstGeom>
          <a:noFill/>
        </p:spPr>
        <p:txBody>
          <a:bodyPr wrap="square">
            <a:spAutoFit/>
          </a:bodyPr>
          <a:lstStyle/>
          <a:p>
            <a:pPr algn="l"/>
            <a:r>
              <a:rPr sz="1100" b="1" i="0">
                <a:solidFill>
                  <a:srgbClr val="7B3F00"/>
                </a:solidFill>
              </a:rPr>
              <a:t>4.</a:t>
            </a:r>
          </a:p>
        </p:txBody>
      </p:sp>
      <p:sp>
        <p:nvSpPr>
          <p:cNvPr id="27" name="TextBox 26"/>
          <p:cNvSpPr txBox="1"/>
          <p:nvPr/>
        </p:nvSpPr>
        <p:spPr>
          <a:xfrm>
            <a:off x="6675120" y="2286000"/>
            <a:ext cx="3017520" cy="365760"/>
          </a:xfrm>
          <a:prstGeom prst="rect">
            <a:avLst/>
          </a:prstGeom>
          <a:noFill/>
        </p:spPr>
        <p:txBody>
          <a:bodyPr wrap="square">
            <a:spAutoFit/>
          </a:bodyPr>
          <a:lstStyle/>
          <a:p>
            <a:pPr algn="l"/>
            <a:r>
              <a:rPr sz="1100" b="1" i="0">
                <a:solidFill>
                  <a:srgbClr val="1A1A2E"/>
                </a:solidFill>
              </a:rPr>
              <a:t>一貫性と標準</a:t>
            </a:r>
          </a:p>
        </p:txBody>
      </p:sp>
      <p:sp>
        <p:nvSpPr>
          <p:cNvPr id="28" name="TextBox 27"/>
          <p:cNvSpPr txBox="1"/>
          <p:nvPr/>
        </p:nvSpPr>
        <p:spPr>
          <a:xfrm>
            <a:off x="10789920" y="2286000"/>
            <a:ext cx="914400" cy="365760"/>
          </a:xfrm>
          <a:prstGeom prst="rect">
            <a:avLst/>
          </a:prstGeom>
          <a:noFill/>
        </p:spPr>
        <p:txBody>
          <a:bodyPr wrap="square">
            <a:spAutoFit/>
          </a:bodyPr>
          <a:lstStyle/>
          <a:p>
            <a:pPr algn="r"/>
            <a:r>
              <a:rPr sz="1300" b="1" i="0">
                <a:solidFill>
                  <a:srgbClr val="F57C00"/>
                </a:solidFill>
              </a:rPr>
              <a:t>3/5</a:t>
            </a:r>
          </a:p>
        </p:txBody>
      </p:sp>
      <p:sp>
        <p:nvSpPr>
          <p:cNvPr id="29" name="Rectangle 28"/>
          <p:cNvSpPr/>
          <p:nvPr/>
        </p:nvSpPr>
        <p:spPr>
          <a:xfrm>
            <a:off x="6675120" y="2743200"/>
            <a:ext cx="3200400" cy="18288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75120" y="2743200"/>
            <a:ext cx="1920240" cy="18288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0" y="2953512"/>
            <a:ext cx="5029200" cy="228600"/>
          </a:xfrm>
          <a:prstGeom prst="rect">
            <a:avLst/>
          </a:prstGeom>
          <a:noFill/>
        </p:spPr>
        <p:txBody>
          <a:bodyPr wrap="square">
            <a:spAutoFit/>
          </a:bodyPr>
          <a:lstStyle/>
          <a:p>
            <a:pPr algn="l"/>
            <a:r>
              <a:rPr sz="900" b="0" i="1">
                <a:solidFill>
                  <a:srgbClr val="787878"/>
                </a:solidFill>
              </a:rPr>
              <a:t>→ 日本語（/html/product/）と英語（/en/）のURL構造が異なる</a:t>
            </a:r>
          </a:p>
        </p:txBody>
      </p:sp>
      <p:sp>
        <p:nvSpPr>
          <p:cNvPr id="32" name="Rectangle 31"/>
          <p:cNvSpPr/>
          <p:nvPr/>
        </p:nvSpPr>
        <p:spPr>
          <a:xfrm>
            <a:off x="274320" y="3291840"/>
            <a:ext cx="5669280" cy="914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3337560"/>
            <a:ext cx="365760" cy="365760"/>
          </a:xfrm>
          <a:prstGeom prst="rect">
            <a:avLst/>
          </a:prstGeom>
          <a:noFill/>
        </p:spPr>
        <p:txBody>
          <a:bodyPr wrap="square">
            <a:spAutoFit/>
          </a:bodyPr>
          <a:lstStyle/>
          <a:p>
            <a:pPr algn="l"/>
            <a:r>
              <a:rPr sz="1100" b="1" i="0">
                <a:solidFill>
                  <a:srgbClr val="7B3F00"/>
                </a:solidFill>
              </a:rPr>
              <a:t>5.</a:t>
            </a:r>
          </a:p>
        </p:txBody>
      </p:sp>
      <p:sp>
        <p:nvSpPr>
          <p:cNvPr id="34" name="TextBox 33"/>
          <p:cNvSpPr txBox="1"/>
          <p:nvPr/>
        </p:nvSpPr>
        <p:spPr>
          <a:xfrm>
            <a:off x="731520" y="3337560"/>
            <a:ext cx="3017520" cy="365760"/>
          </a:xfrm>
          <a:prstGeom prst="rect">
            <a:avLst/>
          </a:prstGeom>
          <a:noFill/>
        </p:spPr>
        <p:txBody>
          <a:bodyPr wrap="square">
            <a:spAutoFit/>
          </a:bodyPr>
          <a:lstStyle/>
          <a:p>
            <a:pPr algn="l"/>
            <a:r>
              <a:rPr sz="1100" b="1" i="0">
                <a:solidFill>
                  <a:srgbClr val="1A1A2E"/>
                </a:solidFill>
              </a:rPr>
              <a:t>エラー防止</a:t>
            </a:r>
          </a:p>
        </p:txBody>
      </p:sp>
      <p:sp>
        <p:nvSpPr>
          <p:cNvPr id="35" name="TextBox 34"/>
          <p:cNvSpPr txBox="1"/>
          <p:nvPr/>
        </p:nvSpPr>
        <p:spPr>
          <a:xfrm>
            <a:off x="4846320" y="3337560"/>
            <a:ext cx="914400" cy="365760"/>
          </a:xfrm>
          <a:prstGeom prst="rect">
            <a:avLst/>
          </a:prstGeom>
          <a:noFill/>
        </p:spPr>
        <p:txBody>
          <a:bodyPr wrap="square">
            <a:spAutoFit/>
          </a:bodyPr>
          <a:lstStyle/>
          <a:p>
            <a:pPr algn="r"/>
            <a:r>
              <a:rPr sz="1300" b="1" i="0">
                <a:solidFill>
                  <a:srgbClr val="D32F2F"/>
                </a:solidFill>
              </a:rPr>
              <a:t>2/5</a:t>
            </a:r>
          </a:p>
        </p:txBody>
      </p:sp>
      <p:sp>
        <p:nvSpPr>
          <p:cNvPr id="36" name="Rectangle 35"/>
          <p:cNvSpPr/>
          <p:nvPr/>
        </p:nvSpPr>
        <p:spPr>
          <a:xfrm>
            <a:off x="731520" y="3794760"/>
            <a:ext cx="3200400" cy="18288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3794760"/>
            <a:ext cx="1280160" cy="182880"/>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4005072"/>
            <a:ext cx="5029200" cy="228600"/>
          </a:xfrm>
          <a:prstGeom prst="rect">
            <a:avLst/>
          </a:prstGeom>
          <a:noFill/>
        </p:spPr>
        <p:txBody>
          <a:bodyPr wrap="square">
            <a:spAutoFit/>
          </a:bodyPr>
          <a:lstStyle/>
          <a:p>
            <a:pPr algn="l"/>
            <a:r>
              <a:rPr sz="900" b="0" i="1">
                <a:solidFill>
                  <a:srgbClr val="787878"/>
                </a:solidFill>
              </a:rPr>
              <a:t>→ 問い合わせフォームのバリデーション実装状況が確認できない</a:t>
            </a:r>
          </a:p>
        </p:txBody>
      </p:sp>
      <p:sp>
        <p:nvSpPr>
          <p:cNvPr id="39" name="Rectangle 38"/>
          <p:cNvSpPr/>
          <p:nvPr/>
        </p:nvSpPr>
        <p:spPr>
          <a:xfrm>
            <a:off x="6217920" y="3291840"/>
            <a:ext cx="5669280" cy="914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09360" y="3337560"/>
            <a:ext cx="365760" cy="365760"/>
          </a:xfrm>
          <a:prstGeom prst="rect">
            <a:avLst/>
          </a:prstGeom>
          <a:noFill/>
        </p:spPr>
        <p:txBody>
          <a:bodyPr wrap="square">
            <a:spAutoFit/>
          </a:bodyPr>
          <a:lstStyle/>
          <a:p>
            <a:pPr algn="l"/>
            <a:r>
              <a:rPr sz="1100" b="1" i="0">
                <a:solidFill>
                  <a:srgbClr val="7B3F00"/>
                </a:solidFill>
              </a:rPr>
              <a:t>6.</a:t>
            </a:r>
          </a:p>
        </p:txBody>
      </p:sp>
      <p:sp>
        <p:nvSpPr>
          <p:cNvPr id="41" name="TextBox 40"/>
          <p:cNvSpPr txBox="1"/>
          <p:nvPr/>
        </p:nvSpPr>
        <p:spPr>
          <a:xfrm>
            <a:off x="6675120" y="3337560"/>
            <a:ext cx="3017520" cy="365760"/>
          </a:xfrm>
          <a:prstGeom prst="rect">
            <a:avLst/>
          </a:prstGeom>
          <a:noFill/>
        </p:spPr>
        <p:txBody>
          <a:bodyPr wrap="square">
            <a:spAutoFit/>
          </a:bodyPr>
          <a:lstStyle/>
          <a:p>
            <a:pPr algn="l"/>
            <a:r>
              <a:rPr sz="1100" b="1" i="0">
                <a:solidFill>
                  <a:srgbClr val="1A1A2E"/>
                </a:solidFill>
              </a:rPr>
              <a:t>記憶より認識</a:t>
            </a:r>
          </a:p>
        </p:txBody>
      </p:sp>
      <p:sp>
        <p:nvSpPr>
          <p:cNvPr id="42" name="TextBox 41"/>
          <p:cNvSpPr txBox="1"/>
          <p:nvPr/>
        </p:nvSpPr>
        <p:spPr>
          <a:xfrm>
            <a:off x="10789920" y="3337560"/>
            <a:ext cx="914400" cy="365760"/>
          </a:xfrm>
          <a:prstGeom prst="rect">
            <a:avLst/>
          </a:prstGeom>
          <a:noFill/>
        </p:spPr>
        <p:txBody>
          <a:bodyPr wrap="square">
            <a:spAutoFit/>
          </a:bodyPr>
          <a:lstStyle/>
          <a:p>
            <a:pPr algn="r"/>
            <a:r>
              <a:rPr sz="1300" b="1" i="0">
                <a:solidFill>
                  <a:srgbClr val="388E3C"/>
                </a:solidFill>
              </a:rPr>
              <a:t>4/5</a:t>
            </a:r>
          </a:p>
        </p:txBody>
      </p:sp>
      <p:sp>
        <p:nvSpPr>
          <p:cNvPr id="43" name="Rectangle 42"/>
          <p:cNvSpPr/>
          <p:nvPr/>
        </p:nvSpPr>
        <p:spPr>
          <a:xfrm>
            <a:off x="6675120" y="3794760"/>
            <a:ext cx="3200400" cy="18288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675120" y="3794760"/>
            <a:ext cx="2560320" cy="182880"/>
          </a:xfrm>
          <a:prstGeom prst="rect">
            <a:avLst/>
          </a:prstGeom>
          <a:solidFill>
            <a:srgbClr val="388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75120" y="4005072"/>
            <a:ext cx="5029200" cy="228600"/>
          </a:xfrm>
          <a:prstGeom prst="rect">
            <a:avLst/>
          </a:prstGeom>
          <a:noFill/>
        </p:spPr>
        <p:txBody>
          <a:bodyPr wrap="square">
            <a:spAutoFit/>
          </a:bodyPr>
          <a:lstStyle/>
          <a:p>
            <a:pPr algn="l"/>
            <a:r>
              <a:rPr sz="900" b="0" i="1">
                <a:solidFill>
                  <a:srgbClr val="787878"/>
                </a:solidFill>
              </a:rPr>
              <a:t>→ 製品比較機能がない可能性</a:t>
            </a:r>
          </a:p>
        </p:txBody>
      </p:sp>
      <p:sp>
        <p:nvSpPr>
          <p:cNvPr id="46" name="Rectangle 45"/>
          <p:cNvSpPr/>
          <p:nvPr/>
        </p:nvSpPr>
        <p:spPr>
          <a:xfrm>
            <a:off x="274320" y="4343400"/>
            <a:ext cx="5669280" cy="914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5760" y="4389120"/>
            <a:ext cx="365760" cy="365760"/>
          </a:xfrm>
          <a:prstGeom prst="rect">
            <a:avLst/>
          </a:prstGeom>
          <a:noFill/>
        </p:spPr>
        <p:txBody>
          <a:bodyPr wrap="square">
            <a:spAutoFit/>
          </a:bodyPr>
          <a:lstStyle/>
          <a:p>
            <a:pPr algn="l"/>
            <a:r>
              <a:rPr sz="1100" b="1" i="0">
                <a:solidFill>
                  <a:srgbClr val="7B3F00"/>
                </a:solidFill>
              </a:rPr>
              <a:t>7.</a:t>
            </a:r>
          </a:p>
        </p:txBody>
      </p:sp>
      <p:sp>
        <p:nvSpPr>
          <p:cNvPr id="48" name="TextBox 47"/>
          <p:cNvSpPr txBox="1"/>
          <p:nvPr/>
        </p:nvSpPr>
        <p:spPr>
          <a:xfrm>
            <a:off x="731520" y="4389120"/>
            <a:ext cx="3017520" cy="365760"/>
          </a:xfrm>
          <a:prstGeom prst="rect">
            <a:avLst/>
          </a:prstGeom>
          <a:noFill/>
        </p:spPr>
        <p:txBody>
          <a:bodyPr wrap="square">
            <a:spAutoFit/>
          </a:bodyPr>
          <a:lstStyle/>
          <a:p>
            <a:pPr algn="l"/>
            <a:r>
              <a:rPr sz="1100" b="1" i="0">
                <a:solidFill>
                  <a:srgbClr val="1A1A2E"/>
                </a:solidFill>
              </a:rPr>
              <a:t>柔軟性と効率</a:t>
            </a:r>
          </a:p>
        </p:txBody>
      </p:sp>
      <p:sp>
        <p:nvSpPr>
          <p:cNvPr id="49" name="TextBox 48"/>
          <p:cNvSpPr txBox="1"/>
          <p:nvPr/>
        </p:nvSpPr>
        <p:spPr>
          <a:xfrm>
            <a:off x="4846320" y="4389120"/>
            <a:ext cx="914400" cy="365760"/>
          </a:xfrm>
          <a:prstGeom prst="rect">
            <a:avLst/>
          </a:prstGeom>
          <a:noFill/>
        </p:spPr>
        <p:txBody>
          <a:bodyPr wrap="square">
            <a:spAutoFit/>
          </a:bodyPr>
          <a:lstStyle/>
          <a:p>
            <a:pPr algn="r"/>
            <a:r>
              <a:rPr sz="1300" b="1" i="0">
                <a:solidFill>
                  <a:srgbClr val="D32F2F"/>
                </a:solidFill>
              </a:rPr>
              <a:t>2/5</a:t>
            </a:r>
          </a:p>
        </p:txBody>
      </p:sp>
      <p:sp>
        <p:nvSpPr>
          <p:cNvPr id="50" name="Rectangle 49"/>
          <p:cNvSpPr/>
          <p:nvPr/>
        </p:nvSpPr>
        <p:spPr>
          <a:xfrm>
            <a:off x="731520" y="4846320"/>
            <a:ext cx="3200400" cy="18288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31520" y="4846320"/>
            <a:ext cx="1280160" cy="182880"/>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1520" y="5056632"/>
            <a:ext cx="5029200" cy="228600"/>
          </a:xfrm>
          <a:prstGeom prst="rect">
            <a:avLst/>
          </a:prstGeom>
          <a:noFill/>
        </p:spPr>
        <p:txBody>
          <a:bodyPr wrap="square">
            <a:spAutoFit/>
          </a:bodyPr>
          <a:lstStyle/>
          <a:p>
            <a:pPr algn="l"/>
            <a:r>
              <a:rPr sz="900" b="0" i="1">
                <a:solidFill>
                  <a:srgbClr val="787878"/>
                </a:solidFill>
              </a:rPr>
              <a:t>→ モバイル対応状況がサイト直接確認不可（403エラー）</a:t>
            </a:r>
          </a:p>
        </p:txBody>
      </p:sp>
      <p:sp>
        <p:nvSpPr>
          <p:cNvPr id="53" name="Rectangle 52"/>
          <p:cNvSpPr/>
          <p:nvPr/>
        </p:nvSpPr>
        <p:spPr>
          <a:xfrm>
            <a:off x="6217920" y="4343400"/>
            <a:ext cx="5669280" cy="914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09360" y="4389120"/>
            <a:ext cx="365760" cy="365760"/>
          </a:xfrm>
          <a:prstGeom prst="rect">
            <a:avLst/>
          </a:prstGeom>
          <a:noFill/>
        </p:spPr>
        <p:txBody>
          <a:bodyPr wrap="square">
            <a:spAutoFit/>
          </a:bodyPr>
          <a:lstStyle/>
          <a:p>
            <a:pPr algn="l"/>
            <a:r>
              <a:rPr sz="1100" b="1" i="0">
                <a:solidFill>
                  <a:srgbClr val="7B3F00"/>
                </a:solidFill>
              </a:rPr>
              <a:t>8.</a:t>
            </a:r>
          </a:p>
        </p:txBody>
      </p:sp>
      <p:sp>
        <p:nvSpPr>
          <p:cNvPr id="55" name="TextBox 54"/>
          <p:cNvSpPr txBox="1"/>
          <p:nvPr/>
        </p:nvSpPr>
        <p:spPr>
          <a:xfrm>
            <a:off x="6675120" y="4389120"/>
            <a:ext cx="3017520" cy="365760"/>
          </a:xfrm>
          <a:prstGeom prst="rect">
            <a:avLst/>
          </a:prstGeom>
          <a:noFill/>
        </p:spPr>
        <p:txBody>
          <a:bodyPr wrap="square">
            <a:spAutoFit/>
          </a:bodyPr>
          <a:lstStyle/>
          <a:p>
            <a:pPr algn="l"/>
            <a:r>
              <a:rPr sz="1100" b="1" i="0">
                <a:solidFill>
                  <a:srgbClr val="1A1A2E"/>
                </a:solidFill>
              </a:rPr>
              <a:t>審美的でミニマルなデザイン</a:t>
            </a:r>
          </a:p>
        </p:txBody>
      </p:sp>
      <p:sp>
        <p:nvSpPr>
          <p:cNvPr id="56" name="TextBox 55"/>
          <p:cNvSpPr txBox="1"/>
          <p:nvPr/>
        </p:nvSpPr>
        <p:spPr>
          <a:xfrm>
            <a:off x="10789920" y="4389120"/>
            <a:ext cx="914400" cy="365760"/>
          </a:xfrm>
          <a:prstGeom prst="rect">
            <a:avLst/>
          </a:prstGeom>
          <a:noFill/>
        </p:spPr>
        <p:txBody>
          <a:bodyPr wrap="square">
            <a:spAutoFit/>
          </a:bodyPr>
          <a:lstStyle/>
          <a:p>
            <a:pPr algn="r"/>
            <a:r>
              <a:rPr sz="1300" b="1" i="0">
                <a:solidFill>
                  <a:srgbClr val="F57C00"/>
                </a:solidFill>
              </a:rPr>
              <a:t>3/5</a:t>
            </a:r>
          </a:p>
        </p:txBody>
      </p:sp>
      <p:sp>
        <p:nvSpPr>
          <p:cNvPr id="57" name="Rectangle 56"/>
          <p:cNvSpPr/>
          <p:nvPr/>
        </p:nvSpPr>
        <p:spPr>
          <a:xfrm>
            <a:off x="6675120" y="4846320"/>
            <a:ext cx="3200400" cy="18288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675120" y="4846320"/>
            <a:ext cx="1920240" cy="18288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675120" y="5056632"/>
            <a:ext cx="5029200" cy="228600"/>
          </a:xfrm>
          <a:prstGeom prst="rect">
            <a:avLst/>
          </a:prstGeom>
          <a:noFill/>
        </p:spPr>
        <p:txBody>
          <a:bodyPr wrap="square">
            <a:spAutoFit/>
          </a:bodyPr>
          <a:lstStyle/>
          <a:p>
            <a:pPr algn="l"/>
            <a:r>
              <a:rPr sz="900" b="0" i="1">
                <a:solidFill>
                  <a:srgbClr val="787878"/>
                </a:solidFill>
              </a:rPr>
              <a:t>→ URLパス（/html/ プレフィックス）が古い設計を示唆しCMS管理されていない可能性</a:t>
            </a:r>
          </a:p>
        </p:txBody>
      </p:sp>
      <p:sp>
        <p:nvSpPr>
          <p:cNvPr id="60" name="Rectangle 59"/>
          <p:cNvSpPr/>
          <p:nvPr/>
        </p:nvSpPr>
        <p:spPr>
          <a:xfrm>
            <a:off x="274320" y="5394960"/>
            <a:ext cx="5669280" cy="914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5760" y="5440680"/>
            <a:ext cx="365760" cy="365760"/>
          </a:xfrm>
          <a:prstGeom prst="rect">
            <a:avLst/>
          </a:prstGeom>
          <a:noFill/>
        </p:spPr>
        <p:txBody>
          <a:bodyPr wrap="square">
            <a:spAutoFit/>
          </a:bodyPr>
          <a:lstStyle/>
          <a:p>
            <a:pPr algn="l"/>
            <a:r>
              <a:rPr sz="1100" b="1" i="0">
                <a:solidFill>
                  <a:srgbClr val="7B3F00"/>
                </a:solidFill>
              </a:rPr>
              <a:t>9.</a:t>
            </a:r>
          </a:p>
        </p:txBody>
      </p:sp>
      <p:sp>
        <p:nvSpPr>
          <p:cNvPr id="62" name="TextBox 61"/>
          <p:cNvSpPr txBox="1"/>
          <p:nvPr/>
        </p:nvSpPr>
        <p:spPr>
          <a:xfrm>
            <a:off x="731520" y="5440680"/>
            <a:ext cx="3017520" cy="365760"/>
          </a:xfrm>
          <a:prstGeom prst="rect">
            <a:avLst/>
          </a:prstGeom>
          <a:noFill/>
        </p:spPr>
        <p:txBody>
          <a:bodyPr wrap="square">
            <a:spAutoFit/>
          </a:bodyPr>
          <a:lstStyle/>
          <a:p>
            <a:pPr algn="l"/>
            <a:r>
              <a:rPr sz="1100" b="1" i="0">
                <a:solidFill>
                  <a:srgbClr val="1A1A2E"/>
                </a:solidFill>
              </a:rPr>
              <a:t>エラーの認識・診断・回復を助ける</a:t>
            </a:r>
          </a:p>
        </p:txBody>
      </p:sp>
      <p:sp>
        <p:nvSpPr>
          <p:cNvPr id="63" name="TextBox 62"/>
          <p:cNvSpPr txBox="1"/>
          <p:nvPr/>
        </p:nvSpPr>
        <p:spPr>
          <a:xfrm>
            <a:off x="4846320" y="5440680"/>
            <a:ext cx="914400" cy="365760"/>
          </a:xfrm>
          <a:prstGeom prst="rect">
            <a:avLst/>
          </a:prstGeom>
          <a:noFill/>
        </p:spPr>
        <p:txBody>
          <a:bodyPr wrap="square">
            <a:spAutoFit/>
          </a:bodyPr>
          <a:lstStyle/>
          <a:p>
            <a:pPr algn="r"/>
            <a:r>
              <a:rPr sz="1300" b="1" i="0">
                <a:solidFill>
                  <a:srgbClr val="D32F2F"/>
                </a:solidFill>
              </a:rPr>
              <a:t>2/5</a:t>
            </a:r>
          </a:p>
        </p:txBody>
      </p:sp>
      <p:sp>
        <p:nvSpPr>
          <p:cNvPr id="64" name="Rectangle 63"/>
          <p:cNvSpPr/>
          <p:nvPr/>
        </p:nvSpPr>
        <p:spPr>
          <a:xfrm>
            <a:off x="731520" y="5897880"/>
            <a:ext cx="3200400" cy="18288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731520" y="5897880"/>
            <a:ext cx="1280160" cy="182880"/>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31520" y="6108192"/>
            <a:ext cx="5029200" cy="228600"/>
          </a:xfrm>
          <a:prstGeom prst="rect">
            <a:avLst/>
          </a:prstGeom>
          <a:noFill/>
        </p:spPr>
        <p:txBody>
          <a:bodyPr wrap="square">
            <a:spAutoFit/>
          </a:bodyPr>
          <a:lstStyle/>
          <a:p>
            <a:pPr algn="l"/>
            <a:r>
              <a:rPr sz="900" b="0" i="1">
                <a:solidFill>
                  <a:srgbClr val="787878"/>
                </a:solidFill>
              </a:rPr>
              <a:t>→ カスタム404ページの有無が確認できない</a:t>
            </a:r>
          </a:p>
        </p:txBody>
      </p:sp>
      <p:sp>
        <p:nvSpPr>
          <p:cNvPr id="67" name="Rectangle 66"/>
          <p:cNvSpPr/>
          <p:nvPr/>
        </p:nvSpPr>
        <p:spPr>
          <a:xfrm>
            <a:off x="6217920" y="5394960"/>
            <a:ext cx="5669280" cy="914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309360" y="5440680"/>
            <a:ext cx="365760" cy="365760"/>
          </a:xfrm>
          <a:prstGeom prst="rect">
            <a:avLst/>
          </a:prstGeom>
          <a:noFill/>
        </p:spPr>
        <p:txBody>
          <a:bodyPr wrap="square">
            <a:spAutoFit/>
          </a:bodyPr>
          <a:lstStyle/>
          <a:p>
            <a:pPr algn="l"/>
            <a:r>
              <a:rPr sz="1100" b="1" i="0">
                <a:solidFill>
                  <a:srgbClr val="7B3F00"/>
                </a:solidFill>
              </a:rPr>
              <a:t>10.</a:t>
            </a:r>
          </a:p>
        </p:txBody>
      </p:sp>
      <p:sp>
        <p:nvSpPr>
          <p:cNvPr id="69" name="TextBox 68"/>
          <p:cNvSpPr txBox="1"/>
          <p:nvPr/>
        </p:nvSpPr>
        <p:spPr>
          <a:xfrm>
            <a:off x="6675120" y="5440680"/>
            <a:ext cx="3017520" cy="365760"/>
          </a:xfrm>
          <a:prstGeom prst="rect">
            <a:avLst/>
          </a:prstGeom>
          <a:noFill/>
        </p:spPr>
        <p:txBody>
          <a:bodyPr wrap="square">
            <a:spAutoFit/>
          </a:bodyPr>
          <a:lstStyle/>
          <a:p>
            <a:pPr algn="l"/>
            <a:r>
              <a:rPr sz="1100" b="1" i="0">
                <a:solidFill>
                  <a:srgbClr val="1A1A2E"/>
                </a:solidFill>
              </a:rPr>
              <a:t>ヘルプとドキュメント</a:t>
            </a:r>
          </a:p>
        </p:txBody>
      </p:sp>
      <p:sp>
        <p:nvSpPr>
          <p:cNvPr id="70" name="TextBox 69"/>
          <p:cNvSpPr txBox="1"/>
          <p:nvPr/>
        </p:nvSpPr>
        <p:spPr>
          <a:xfrm>
            <a:off x="10789920" y="5440680"/>
            <a:ext cx="914400" cy="365760"/>
          </a:xfrm>
          <a:prstGeom prst="rect">
            <a:avLst/>
          </a:prstGeom>
          <a:noFill/>
        </p:spPr>
        <p:txBody>
          <a:bodyPr wrap="square">
            <a:spAutoFit/>
          </a:bodyPr>
          <a:lstStyle/>
          <a:p>
            <a:pPr algn="r"/>
            <a:r>
              <a:rPr sz="1300" b="1" i="0">
                <a:solidFill>
                  <a:srgbClr val="F57C00"/>
                </a:solidFill>
              </a:rPr>
              <a:t>3/5</a:t>
            </a:r>
          </a:p>
        </p:txBody>
      </p:sp>
      <p:sp>
        <p:nvSpPr>
          <p:cNvPr id="71" name="Rectangle 70"/>
          <p:cNvSpPr/>
          <p:nvPr/>
        </p:nvSpPr>
        <p:spPr>
          <a:xfrm>
            <a:off x="6675120" y="5897880"/>
            <a:ext cx="3200400" cy="18288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675120" y="5897880"/>
            <a:ext cx="1920240" cy="18288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675120" y="6108192"/>
            <a:ext cx="5029200" cy="228600"/>
          </a:xfrm>
          <a:prstGeom prst="rect">
            <a:avLst/>
          </a:prstGeom>
          <a:noFill/>
        </p:spPr>
        <p:txBody>
          <a:bodyPr wrap="square">
            <a:spAutoFit/>
          </a:bodyPr>
          <a:lstStyle/>
          <a:p>
            <a:pPr algn="l"/>
            <a:r>
              <a:rPr sz="900" b="0" i="1">
                <a:solidFill>
                  <a:srgbClr val="787878"/>
                </a:solidFill>
              </a:rPr>
              <a:t>→ FAQページが確認できない（取引条件・サンプル請求など）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7B3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0972800" cy="640080"/>
          </a:xfrm>
          <a:prstGeom prst="rect">
            <a:avLst/>
          </a:prstGeom>
          <a:noFill/>
        </p:spPr>
        <p:txBody>
          <a:bodyPr wrap="square">
            <a:spAutoFit/>
          </a:bodyPr>
          <a:lstStyle/>
          <a:p>
            <a:pPr algn="l"/>
            <a:r>
              <a:rPr sz="2200" b="1" i="0">
                <a:solidFill>
                  <a:srgbClr val="FFFFFF"/>
                </a:solidFill>
              </a:rPr>
              <a:t>ニールセン原則 詳細分析 — 詳細分析 (1〜5)</a:t>
            </a:r>
          </a:p>
        </p:txBody>
      </p:sp>
      <p:sp>
        <p:nvSpPr>
          <p:cNvPr id="4" name="Rectangle 3"/>
          <p:cNvSpPr/>
          <p:nvPr/>
        </p:nvSpPr>
        <p:spPr>
          <a:xfrm>
            <a:off x="182880" y="1143000"/>
            <a:ext cx="11795760" cy="97840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1143000"/>
            <a:ext cx="411480" cy="978408"/>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 y="1417320"/>
            <a:ext cx="365760" cy="365760"/>
          </a:xfrm>
          <a:prstGeom prst="rect">
            <a:avLst/>
          </a:prstGeom>
          <a:noFill/>
        </p:spPr>
        <p:txBody>
          <a:bodyPr wrap="square">
            <a:spAutoFit/>
          </a:bodyPr>
          <a:lstStyle/>
          <a:p>
            <a:pPr algn="ctr"/>
            <a:r>
              <a:rPr sz="1400" b="1" i="0">
                <a:solidFill>
                  <a:srgbClr val="FFFFFF"/>
                </a:solidFill>
              </a:rPr>
              <a:t>1</a:t>
            </a:r>
          </a:p>
        </p:txBody>
      </p:sp>
      <p:sp>
        <p:nvSpPr>
          <p:cNvPr id="7" name="TextBox 6"/>
          <p:cNvSpPr txBox="1"/>
          <p:nvPr/>
        </p:nvSpPr>
        <p:spPr>
          <a:xfrm>
            <a:off x="685800" y="1188720"/>
            <a:ext cx="4572000" cy="411480"/>
          </a:xfrm>
          <a:prstGeom prst="rect">
            <a:avLst/>
          </a:prstGeom>
          <a:noFill/>
        </p:spPr>
        <p:txBody>
          <a:bodyPr wrap="square">
            <a:spAutoFit/>
          </a:bodyPr>
          <a:lstStyle/>
          <a:p>
            <a:pPr algn="l"/>
            <a:r>
              <a:rPr sz="1200" b="1" i="0">
                <a:solidFill>
                  <a:srgbClr val="7B3F00"/>
                </a:solidFill>
              </a:rPr>
              <a:t>システム状態の可視性</a:t>
            </a:r>
          </a:p>
        </p:txBody>
      </p:sp>
      <p:sp>
        <p:nvSpPr>
          <p:cNvPr id="8" name="TextBox 7"/>
          <p:cNvSpPr txBox="1"/>
          <p:nvPr/>
        </p:nvSpPr>
        <p:spPr>
          <a:xfrm>
            <a:off x="685800" y="1188720"/>
            <a:ext cx="4572000" cy="411480"/>
          </a:xfrm>
          <a:prstGeom prst="rect">
            <a:avLst/>
          </a:prstGeom>
          <a:noFill/>
        </p:spPr>
        <p:txBody>
          <a:bodyPr wrap="square">
            <a:spAutoFit/>
          </a:bodyPr>
          <a:lstStyle/>
          <a:p>
            <a:pPr algn="l"/>
            <a:r>
              <a:rPr sz="1000" b="0" i="0">
                <a:solidFill>
                  <a:srgbClr val="787878"/>
                </a:solidFill>
              </a:rPr>
              <a:t/>
            </a:r>
          </a:p>
        </p:txBody>
      </p:sp>
      <p:sp>
        <p:nvSpPr>
          <p:cNvPr id="9" name="TextBox 8"/>
          <p:cNvSpPr txBox="1"/>
          <p:nvPr/>
        </p:nvSpPr>
        <p:spPr>
          <a:xfrm>
            <a:off x="10515600" y="1188720"/>
            <a:ext cx="1097280" cy="411480"/>
          </a:xfrm>
          <a:prstGeom prst="rect">
            <a:avLst/>
          </a:prstGeom>
          <a:noFill/>
        </p:spPr>
        <p:txBody>
          <a:bodyPr wrap="square">
            <a:spAutoFit/>
          </a:bodyPr>
          <a:lstStyle/>
          <a:p>
            <a:pPr algn="r"/>
            <a:r>
              <a:rPr sz="1400" b="1" i="0">
                <a:solidFill>
                  <a:srgbClr val="D32F2F"/>
                </a:solidFill>
              </a:rPr>
              <a:t>★ 2/5</a:t>
            </a:r>
          </a:p>
        </p:txBody>
      </p:sp>
      <p:sp>
        <p:nvSpPr>
          <p:cNvPr id="10" name="TextBox 9"/>
          <p:cNvSpPr txBox="1"/>
          <p:nvPr/>
        </p:nvSpPr>
        <p:spPr>
          <a:xfrm>
            <a:off x="685800" y="1618488"/>
            <a:ext cx="5486400" cy="457200"/>
          </a:xfrm>
          <a:prstGeom prst="rect">
            <a:avLst/>
          </a:prstGeom>
          <a:noFill/>
        </p:spPr>
        <p:txBody>
          <a:bodyPr wrap="square">
            <a:spAutoFit/>
          </a:bodyPr>
          <a:lstStyle/>
          <a:p>
            <a:pPr algn="l"/>
            <a:r>
              <a:rPr sz="900" b="0" i="0">
                <a:solidFill>
                  <a:srgbClr val="D32F2F"/>
                </a:solidFill>
              </a:rPr>
              <a:t>課題: ・問い合わせフォーム送信後の確認・自動返信の有無が不明　・在庫状況・納期・サンプル請求進捗などのステータス情報がない</a:t>
            </a:r>
          </a:p>
        </p:txBody>
      </p:sp>
      <p:sp>
        <p:nvSpPr>
          <p:cNvPr id="11" name="TextBox 10"/>
          <p:cNvSpPr txBox="1"/>
          <p:nvPr/>
        </p:nvSpPr>
        <p:spPr>
          <a:xfrm>
            <a:off x="6400800" y="1618488"/>
            <a:ext cx="5486400" cy="457200"/>
          </a:xfrm>
          <a:prstGeom prst="rect">
            <a:avLst/>
          </a:prstGeom>
          <a:noFill/>
        </p:spPr>
        <p:txBody>
          <a:bodyPr wrap="square">
            <a:spAutoFit/>
          </a:bodyPr>
          <a:lstStyle/>
          <a:p>
            <a:pPr algn="l"/>
            <a:r>
              <a:rPr sz="900" b="0" i="0">
                <a:solidFill>
                  <a:srgbClr val="388E3C"/>
                </a:solidFill>
              </a:rPr>
              <a:t>改善案: フォーム送信後に完了メッセージ・自動返信メールを設置</a:t>
            </a:r>
          </a:p>
        </p:txBody>
      </p:sp>
      <p:sp>
        <p:nvSpPr>
          <p:cNvPr id="12" name="Rectangle 11"/>
          <p:cNvSpPr/>
          <p:nvPr/>
        </p:nvSpPr>
        <p:spPr>
          <a:xfrm>
            <a:off x="182880" y="2194560"/>
            <a:ext cx="11795760" cy="97840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2194560"/>
            <a:ext cx="411480" cy="978408"/>
          </a:xfrm>
          <a:prstGeom prst="rect">
            <a:avLst/>
          </a:prstGeom>
          <a:solidFill>
            <a:srgbClr val="388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2468880"/>
            <a:ext cx="365760" cy="365760"/>
          </a:xfrm>
          <a:prstGeom prst="rect">
            <a:avLst/>
          </a:prstGeom>
          <a:noFill/>
        </p:spPr>
        <p:txBody>
          <a:bodyPr wrap="square">
            <a:spAutoFit/>
          </a:bodyPr>
          <a:lstStyle/>
          <a:p>
            <a:pPr algn="ctr"/>
            <a:r>
              <a:rPr sz="1400" b="1" i="0">
                <a:solidFill>
                  <a:srgbClr val="FFFFFF"/>
                </a:solidFill>
              </a:rPr>
              <a:t>2</a:t>
            </a:r>
          </a:p>
        </p:txBody>
      </p:sp>
      <p:sp>
        <p:nvSpPr>
          <p:cNvPr id="15" name="TextBox 14"/>
          <p:cNvSpPr txBox="1"/>
          <p:nvPr/>
        </p:nvSpPr>
        <p:spPr>
          <a:xfrm>
            <a:off x="685800" y="2240280"/>
            <a:ext cx="4572000" cy="411480"/>
          </a:xfrm>
          <a:prstGeom prst="rect">
            <a:avLst/>
          </a:prstGeom>
          <a:noFill/>
        </p:spPr>
        <p:txBody>
          <a:bodyPr wrap="square">
            <a:spAutoFit/>
          </a:bodyPr>
          <a:lstStyle/>
          <a:p>
            <a:pPr algn="l"/>
            <a:r>
              <a:rPr sz="1200" b="1" i="0">
                <a:solidFill>
                  <a:srgbClr val="7B3F00"/>
                </a:solidFill>
              </a:rPr>
              <a:t>システムと現実の対応</a:t>
            </a:r>
          </a:p>
        </p:txBody>
      </p:sp>
      <p:sp>
        <p:nvSpPr>
          <p:cNvPr id="16" name="TextBox 15"/>
          <p:cNvSpPr txBox="1"/>
          <p:nvPr/>
        </p:nvSpPr>
        <p:spPr>
          <a:xfrm>
            <a:off x="685800" y="2240280"/>
            <a:ext cx="4572000" cy="411480"/>
          </a:xfrm>
          <a:prstGeom prst="rect">
            <a:avLst/>
          </a:prstGeom>
          <a:noFill/>
        </p:spPr>
        <p:txBody>
          <a:bodyPr wrap="square">
            <a:spAutoFit/>
          </a:bodyPr>
          <a:lstStyle/>
          <a:p>
            <a:pPr algn="l"/>
            <a:r>
              <a:rPr sz="1000" b="0" i="0">
                <a:solidFill>
                  <a:srgbClr val="787878"/>
                </a:solidFill>
              </a:rPr>
              <a:t/>
            </a:r>
          </a:p>
        </p:txBody>
      </p:sp>
      <p:sp>
        <p:nvSpPr>
          <p:cNvPr id="17" name="TextBox 16"/>
          <p:cNvSpPr txBox="1"/>
          <p:nvPr/>
        </p:nvSpPr>
        <p:spPr>
          <a:xfrm>
            <a:off x="10515600" y="2240280"/>
            <a:ext cx="1097280" cy="411480"/>
          </a:xfrm>
          <a:prstGeom prst="rect">
            <a:avLst/>
          </a:prstGeom>
          <a:noFill/>
        </p:spPr>
        <p:txBody>
          <a:bodyPr wrap="square">
            <a:spAutoFit/>
          </a:bodyPr>
          <a:lstStyle/>
          <a:p>
            <a:pPr algn="r"/>
            <a:r>
              <a:rPr sz="1400" b="1" i="0">
                <a:solidFill>
                  <a:srgbClr val="388E3C"/>
                </a:solidFill>
              </a:rPr>
              <a:t>★ 4/5</a:t>
            </a:r>
          </a:p>
        </p:txBody>
      </p:sp>
      <p:sp>
        <p:nvSpPr>
          <p:cNvPr id="18" name="TextBox 17"/>
          <p:cNvSpPr txBox="1"/>
          <p:nvPr/>
        </p:nvSpPr>
        <p:spPr>
          <a:xfrm>
            <a:off x="685800" y="2670048"/>
            <a:ext cx="5486400" cy="457200"/>
          </a:xfrm>
          <a:prstGeom prst="rect">
            <a:avLst/>
          </a:prstGeom>
          <a:noFill/>
        </p:spPr>
        <p:txBody>
          <a:bodyPr wrap="square">
            <a:spAutoFit/>
          </a:bodyPr>
          <a:lstStyle/>
          <a:p>
            <a:pPr algn="l"/>
            <a:r>
              <a:rPr sz="900" b="0" i="0">
                <a:solidFill>
                  <a:srgbClr val="D32F2F"/>
                </a:solidFill>
              </a:rPr>
              <a:t>課題: ・URLパス（/html/product/almond.html）が技術的命名で一般ユーザーに不親切　・「まめ知識」というセクション名が初見ユーザーには意図が伝わりにくい</a:t>
            </a:r>
          </a:p>
        </p:txBody>
      </p:sp>
      <p:sp>
        <p:nvSpPr>
          <p:cNvPr id="19" name="TextBox 18"/>
          <p:cNvSpPr txBox="1"/>
          <p:nvPr/>
        </p:nvSpPr>
        <p:spPr>
          <a:xfrm>
            <a:off x="6400800" y="2670048"/>
            <a:ext cx="5486400" cy="457200"/>
          </a:xfrm>
          <a:prstGeom prst="rect">
            <a:avLst/>
          </a:prstGeom>
          <a:noFill/>
        </p:spPr>
        <p:txBody>
          <a:bodyPr wrap="square">
            <a:spAutoFit/>
          </a:bodyPr>
          <a:lstStyle/>
          <a:p>
            <a:pPr algn="l"/>
            <a:r>
              <a:rPr sz="900" b="0" i="0">
                <a:solidFill>
                  <a:srgbClr val="388E3C"/>
                </a:solidFill>
              </a:rPr>
              <a:t>改善案: URLを /products/almond/ などわかりやすいパス構造に変更</a:t>
            </a:r>
          </a:p>
        </p:txBody>
      </p:sp>
      <p:sp>
        <p:nvSpPr>
          <p:cNvPr id="20" name="Rectangle 19"/>
          <p:cNvSpPr/>
          <p:nvPr/>
        </p:nvSpPr>
        <p:spPr>
          <a:xfrm>
            <a:off x="182880" y="3246120"/>
            <a:ext cx="11795760" cy="97840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3246120"/>
            <a:ext cx="411480" cy="978408"/>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520440"/>
            <a:ext cx="365760" cy="365760"/>
          </a:xfrm>
          <a:prstGeom prst="rect">
            <a:avLst/>
          </a:prstGeom>
          <a:noFill/>
        </p:spPr>
        <p:txBody>
          <a:bodyPr wrap="square">
            <a:spAutoFit/>
          </a:bodyPr>
          <a:lstStyle/>
          <a:p>
            <a:pPr algn="ctr"/>
            <a:r>
              <a:rPr sz="1400" b="1" i="0">
                <a:solidFill>
                  <a:srgbClr val="FFFFFF"/>
                </a:solidFill>
              </a:rPr>
              <a:t>3</a:t>
            </a:r>
          </a:p>
        </p:txBody>
      </p:sp>
      <p:sp>
        <p:nvSpPr>
          <p:cNvPr id="23" name="TextBox 22"/>
          <p:cNvSpPr txBox="1"/>
          <p:nvPr/>
        </p:nvSpPr>
        <p:spPr>
          <a:xfrm>
            <a:off x="685800" y="3291840"/>
            <a:ext cx="4572000" cy="411480"/>
          </a:xfrm>
          <a:prstGeom prst="rect">
            <a:avLst/>
          </a:prstGeom>
          <a:noFill/>
        </p:spPr>
        <p:txBody>
          <a:bodyPr wrap="square">
            <a:spAutoFit/>
          </a:bodyPr>
          <a:lstStyle/>
          <a:p>
            <a:pPr algn="l"/>
            <a:r>
              <a:rPr sz="1200" b="1" i="0">
                <a:solidFill>
                  <a:srgbClr val="7B3F00"/>
                </a:solidFill>
              </a:rPr>
              <a:t>ユーザーコントロールと自由</a:t>
            </a:r>
          </a:p>
        </p:txBody>
      </p:sp>
      <p:sp>
        <p:nvSpPr>
          <p:cNvPr id="24" name="TextBox 23"/>
          <p:cNvSpPr txBox="1"/>
          <p:nvPr/>
        </p:nvSpPr>
        <p:spPr>
          <a:xfrm>
            <a:off x="685800" y="3291840"/>
            <a:ext cx="4572000" cy="411480"/>
          </a:xfrm>
          <a:prstGeom prst="rect">
            <a:avLst/>
          </a:prstGeom>
          <a:noFill/>
        </p:spPr>
        <p:txBody>
          <a:bodyPr wrap="square">
            <a:spAutoFit/>
          </a:bodyPr>
          <a:lstStyle/>
          <a:p>
            <a:pPr algn="l"/>
            <a:r>
              <a:rPr sz="1000" b="0" i="0">
                <a:solidFill>
                  <a:srgbClr val="787878"/>
                </a:solidFill>
              </a:rPr>
              <a:t/>
            </a:r>
          </a:p>
        </p:txBody>
      </p:sp>
      <p:sp>
        <p:nvSpPr>
          <p:cNvPr id="25" name="TextBox 24"/>
          <p:cNvSpPr txBox="1"/>
          <p:nvPr/>
        </p:nvSpPr>
        <p:spPr>
          <a:xfrm>
            <a:off x="10515600" y="3291840"/>
            <a:ext cx="1097280" cy="411480"/>
          </a:xfrm>
          <a:prstGeom prst="rect">
            <a:avLst/>
          </a:prstGeom>
          <a:noFill/>
        </p:spPr>
        <p:txBody>
          <a:bodyPr wrap="square">
            <a:spAutoFit/>
          </a:bodyPr>
          <a:lstStyle/>
          <a:p>
            <a:pPr algn="r"/>
            <a:r>
              <a:rPr sz="1400" b="1" i="0">
                <a:solidFill>
                  <a:srgbClr val="F57C00"/>
                </a:solidFill>
              </a:rPr>
              <a:t>★ 3/5</a:t>
            </a:r>
          </a:p>
        </p:txBody>
      </p:sp>
      <p:sp>
        <p:nvSpPr>
          <p:cNvPr id="26" name="TextBox 25"/>
          <p:cNvSpPr txBox="1"/>
          <p:nvPr/>
        </p:nvSpPr>
        <p:spPr>
          <a:xfrm>
            <a:off x="685800" y="3721608"/>
            <a:ext cx="5486400" cy="457200"/>
          </a:xfrm>
          <a:prstGeom prst="rect">
            <a:avLst/>
          </a:prstGeom>
          <a:noFill/>
        </p:spPr>
        <p:txBody>
          <a:bodyPr wrap="square">
            <a:spAutoFit/>
          </a:bodyPr>
          <a:lstStyle/>
          <a:p>
            <a:pPr algn="l"/>
            <a:r>
              <a:rPr sz="900" b="0" i="0">
                <a:solidFill>
                  <a:srgbClr val="D32F2F"/>
                </a:solidFill>
              </a:rPr>
              <a:t>課題: ・サイト内検索機能の有無が不明　・コンテンツが多数あるが絞り込み・カテゴリフィルターが不明</a:t>
            </a:r>
          </a:p>
        </p:txBody>
      </p:sp>
      <p:sp>
        <p:nvSpPr>
          <p:cNvPr id="27" name="TextBox 26"/>
          <p:cNvSpPr txBox="1"/>
          <p:nvPr/>
        </p:nvSpPr>
        <p:spPr>
          <a:xfrm>
            <a:off x="6400800" y="3721608"/>
            <a:ext cx="5486400" cy="457200"/>
          </a:xfrm>
          <a:prstGeom prst="rect">
            <a:avLst/>
          </a:prstGeom>
          <a:noFill/>
        </p:spPr>
        <p:txBody>
          <a:bodyPr wrap="square">
            <a:spAutoFit/>
          </a:bodyPr>
          <a:lstStyle/>
          <a:p>
            <a:pPr algn="l"/>
            <a:r>
              <a:rPr sz="900" b="0" i="0">
                <a:solidFill>
                  <a:srgbClr val="388E3C"/>
                </a:solidFill>
              </a:rPr>
              <a:t>改善案: ヘッダーにサイト内全文検索バーを実装</a:t>
            </a:r>
          </a:p>
        </p:txBody>
      </p:sp>
      <p:sp>
        <p:nvSpPr>
          <p:cNvPr id="28" name="Rectangle 27"/>
          <p:cNvSpPr/>
          <p:nvPr/>
        </p:nvSpPr>
        <p:spPr>
          <a:xfrm>
            <a:off x="182880" y="4297680"/>
            <a:ext cx="11795760" cy="97840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82880" y="4297680"/>
            <a:ext cx="411480" cy="978408"/>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1168" y="4572000"/>
            <a:ext cx="365760" cy="365760"/>
          </a:xfrm>
          <a:prstGeom prst="rect">
            <a:avLst/>
          </a:prstGeom>
          <a:noFill/>
        </p:spPr>
        <p:txBody>
          <a:bodyPr wrap="square">
            <a:spAutoFit/>
          </a:bodyPr>
          <a:lstStyle/>
          <a:p>
            <a:pPr algn="ctr"/>
            <a:r>
              <a:rPr sz="1400" b="1" i="0">
                <a:solidFill>
                  <a:srgbClr val="FFFFFF"/>
                </a:solidFill>
              </a:rPr>
              <a:t>4</a:t>
            </a:r>
          </a:p>
        </p:txBody>
      </p:sp>
      <p:sp>
        <p:nvSpPr>
          <p:cNvPr id="31" name="TextBox 30"/>
          <p:cNvSpPr txBox="1"/>
          <p:nvPr/>
        </p:nvSpPr>
        <p:spPr>
          <a:xfrm>
            <a:off x="685800" y="4343400"/>
            <a:ext cx="4572000" cy="411480"/>
          </a:xfrm>
          <a:prstGeom prst="rect">
            <a:avLst/>
          </a:prstGeom>
          <a:noFill/>
        </p:spPr>
        <p:txBody>
          <a:bodyPr wrap="square">
            <a:spAutoFit/>
          </a:bodyPr>
          <a:lstStyle/>
          <a:p>
            <a:pPr algn="l"/>
            <a:r>
              <a:rPr sz="1200" b="1" i="0">
                <a:solidFill>
                  <a:srgbClr val="7B3F00"/>
                </a:solidFill>
              </a:rPr>
              <a:t>一貫性と標準</a:t>
            </a:r>
          </a:p>
        </p:txBody>
      </p:sp>
      <p:sp>
        <p:nvSpPr>
          <p:cNvPr id="32" name="TextBox 31"/>
          <p:cNvSpPr txBox="1"/>
          <p:nvPr/>
        </p:nvSpPr>
        <p:spPr>
          <a:xfrm>
            <a:off x="685800" y="4343400"/>
            <a:ext cx="4572000" cy="411480"/>
          </a:xfrm>
          <a:prstGeom prst="rect">
            <a:avLst/>
          </a:prstGeom>
          <a:noFill/>
        </p:spPr>
        <p:txBody>
          <a:bodyPr wrap="square">
            <a:spAutoFit/>
          </a:bodyPr>
          <a:lstStyle/>
          <a:p>
            <a:pPr algn="l"/>
            <a:r>
              <a:rPr sz="1000" b="0" i="0">
                <a:solidFill>
                  <a:srgbClr val="787878"/>
                </a:solidFill>
              </a:rPr>
              <a:t/>
            </a:r>
          </a:p>
        </p:txBody>
      </p:sp>
      <p:sp>
        <p:nvSpPr>
          <p:cNvPr id="33" name="TextBox 32"/>
          <p:cNvSpPr txBox="1"/>
          <p:nvPr/>
        </p:nvSpPr>
        <p:spPr>
          <a:xfrm>
            <a:off x="10515600" y="4343400"/>
            <a:ext cx="1097280" cy="411480"/>
          </a:xfrm>
          <a:prstGeom prst="rect">
            <a:avLst/>
          </a:prstGeom>
          <a:noFill/>
        </p:spPr>
        <p:txBody>
          <a:bodyPr wrap="square">
            <a:spAutoFit/>
          </a:bodyPr>
          <a:lstStyle/>
          <a:p>
            <a:pPr algn="r"/>
            <a:r>
              <a:rPr sz="1400" b="1" i="0">
                <a:solidFill>
                  <a:srgbClr val="F57C00"/>
                </a:solidFill>
              </a:rPr>
              <a:t>★ 3/5</a:t>
            </a:r>
          </a:p>
        </p:txBody>
      </p:sp>
      <p:sp>
        <p:nvSpPr>
          <p:cNvPr id="34" name="TextBox 33"/>
          <p:cNvSpPr txBox="1"/>
          <p:nvPr/>
        </p:nvSpPr>
        <p:spPr>
          <a:xfrm>
            <a:off x="685800" y="4773168"/>
            <a:ext cx="5486400" cy="457200"/>
          </a:xfrm>
          <a:prstGeom prst="rect">
            <a:avLst/>
          </a:prstGeom>
          <a:noFill/>
        </p:spPr>
        <p:txBody>
          <a:bodyPr wrap="square">
            <a:spAutoFit/>
          </a:bodyPr>
          <a:lstStyle/>
          <a:p>
            <a:pPr algn="l"/>
            <a:r>
              <a:rPr sz="900" b="0" i="0">
                <a:solidFill>
                  <a:srgbClr val="D32F2F"/>
                </a:solidFill>
              </a:rPr>
              <a:t>課題: ・日本語（/html/product/）と英語（/en/）のURL構造が異なる　・「株式会社タバタ」と「株式会社タバタホールディングス」の関係がサイト上で不明確</a:t>
            </a:r>
          </a:p>
        </p:txBody>
      </p:sp>
      <p:sp>
        <p:nvSpPr>
          <p:cNvPr id="35" name="TextBox 34"/>
          <p:cNvSpPr txBox="1"/>
          <p:nvPr/>
        </p:nvSpPr>
        <p:spPr>
          <a:xfrm>
            <a:off x="6400800" y="4773168"/>
            <a:ext cx="5486400" cy="457200"/>
          </a:xfrm>
          <a:prstGeom prst="rect">
            <a:avLst/>
          </a:prstGeom>
          <a:noFill/>
        </p:spPr>
        <p:txBody>
          <a:bodyPr wrap="square">
            <a:spAutoFit/>
          </a:bodyPr>
          <a:lstStyle/>
          <a:p>
            <a:pPr algn="l"/>
            <a:r>
              <a:rPr sz="900" b="0" i="0">
                <a:solidFill>
                  <a:srgbClr val="388E3C"/>
                </a:solidFill>
              </a:rPr>
              <a:t>改善案: 日英サイトのURL・ナビ構造を統一する</a:t>
            </a:r>
          </a:p>
        </p:txBody>
      </p:sp>
      <p:sp>
        <p:nvSpPr>
          <p:cNvPr id="36" name="Rectangle 35"/>
          <p:cNvSpPr/>
          <p:nvPr/>
        </p:nvSpPr>
        <p:spPr>
          <a:xfrm>
            <a:off x="182880" y="5349240"/>
            <a:ext cx="11795760" cy="97840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82880" y="5349240"/>
            <a:ext cx="411480" cy="978408"/>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01168" y="5623560"/>
            <a:ext cx="365760" cy="365760"/>
          </a:xfrm>
          <a:prstGeom prst="rect">
            <a:avLst/>
          </a:prstGeom>
          <a:noFill/>
        </p:spPr>
        <p:txBody>
          <a:bodyPr wrap="square">
            <a:spAutoFit/>
          </a:bodyPr>
          <a:lstStyle/>
          <a:p>
            <a:pPr algn="ctr"/>
            <a:r>
              <a:rPr sz="1400" b="1" i="0">
                <a:solidFill>
                  <a:srgbClr val="FFFFFF"/>
                </a:solidFill>
              </a:rPr>
              <a:t>5</a:t>
            </a:r>
          </a:p>
        </p:txBody>
      </p:sp>
      <p:sp>
        <p:nvSpPr>
          <p:cNvPr id="39" name="TextBox 38"/>
          <p:cNvSpPr txBox="1"/>
          <p:nvPr/>
        </p:nvSpPr>
        <p:spPr>
          <a:xfrm>
            <a:off x="685800" y="5394960"/>
            <a:ext cx="4572000" cy="411480"/>
          </a:xfrm>
          <a:prstGeom prst="rect">
            <a:avLst/>
          </a:prstGeom>
          <a:noFill/>
        </p:spPr>
        <p:txBody>
          <a:bodyPr wrap="square">
            <a:spAutoFit/>
          </a:bodyPr>
          <a:lstStyle/>
          <a:p>
            <a:pPr algn="l"/>
            <a:r>
              <a:rPr sz="1200" b="1" i="0">
                <a:solidFill>
                  <a:srgbClr val="7B3F00"/>
                </a:solidFill>
              </a:rPr>
              <a:t>エラー防止</a:t>
            </a:r>
          </a:p>
        </p:txBody>
      </p:sp>
      <p:sp>
        <p:nvSpPr>
          <p:cNvPr id="40" name="TextBox 39"/>
          <p:cNvSpPr txBox="1"/>
          <p:nvPr/>
        </p:nvSpPr>
        <p:spPr>
          <a:xfrm>
            <a:off x="685800" y="5394960"/>
            <a:ext cx="4572000" cy="411480"/>
          </a:xfrm>
          <a:prstGeom prst="rect">
            <a:avLst/>
          </a:prstGeom>
          <a:noFill/>
        </p:spPr>
        <p:txBody>
          <a:bodyPr wrap="square">
            <a:spAutoFit/>
          </a:bodyPr>
          <a:lstStyle/>
          <a:p>
            <a:pPr algn="l"/>
            <a:r>
              <a:rPr sz="1000" b="0" i="0">
                <a:solidFill>
                  <a:srgbClr val="787878"/>
                </a:solidFill>
              </a:rPr>
              <a:t/>
            </a:r>
          </a:p>
        </p:txBody>
      </p:sp>
      <p:sp>
        <p:nvSpPr>
          <p:cNvPr id="41" name="TextBox 40"/>
          <p:cNvSpPr txBox="1"/>
          <p:nvPr/>
        </p:nvSpPr>
        <p:spPr>
          <a:xfrm>
            <a:off x="10515600" y="5394960"/>
            <a:ext cx="1097280" cy="411480"/>
          </a:xfrm>
          <a:prstGeom prst="rect">
            <a:avLst/>
          </a:prstGeom>
          <a:noFill/>
        </p:spPr>
        <p:txBody>
          <a:bodyPr wrap="square">
            <a:spAutoFit/>
          </a:bodyPr>
          <a:lstStyle/>
          <a:p>
            <a:pPr algn="r"/>
            <a:r>
              <a:rPr sz="1400" b="1" i="0">
                <a:solidFill>
                  <a:srgbClr val="D32F2F"/>
                </a:solidFill>
              </a:rPr>
              <a:t>★ 2/5</a:t>
            </a:r>
          </a:p>
        </p:txBody>
      </p:sp>
      <p:sp>
        <p:nvSpPr>
          <p:cNvPr id="42" name="TextBox 41"/>
          <p:cNvSpPr txBox="1"/>
          <p:nvPr/>
        </p:nvSpPr>
        <p:spPr>
          <a:xfrm>
            <a:off x="685800" y="5824728"/>
            <a:ext cx="5486400" cy="457200"/>
          </a:xfrm>
          <a:prstGeom prst="rect">
            <a:avLst/>
          </a:prstGeom>
          <a:noFill/>
        </p:spPr>
        <p:txBody>
          <a:bodyPr wrap="square">
            <a:spAutoFit/>
          </a:bodyPr>
          <a:lstStyle/>
          <a:p>
            <a:pPr algn="l"/>
            <a:r>
              <a:rPr sz="900" b="0" i="0">
                <a:solidFill>
                  <a:srgbClr val="D32F2F"/>
                </a:solidFill>
              </a:rPr>
              <a:t>課題: ・問い合わせフォームのバリデーション実装状況が確認できない　・最小発注ロット・梱包単位などの誤発注防止情報が製品ページに不足の可能性</a:t>
            </a:r>
          </a:p>
        </p:txBody>
      </p:sp>
      <p:sp>
        <p:nvSpPr>
          <p:cNvPr id="43" name="TextBox 42"/>
          <p:cNvSpPr txBox="1"/>
          <p:nvPr/>
        </p:nvSpPr>
        <p:spPr>
          <a:xfrm>
            <a:off x="6400800" y="5824728"/>
            <a:ext cx="5486400" cy="457200"/>
          </a:xfrm>
          <a:prstGeom prst="rect">
            <a:avLst/>
          </a:prstGeom>
          <a:noFill/>
        </p:spPr>
        <p:txBody>
          <a:bodyPr wrap="square">
            <a:spAutoFit/>
          </a:bodyPr>
          <a:lstStyle/>
          <a:p>
            <a:pPr algn="l"/>
            <a:r>
              <a:rPr sz="900" b="0" i="0">
                <a:solidFill>
                  <a:srgbClr val="388E3C"/>
                </a:solidFill>
              </a:rPr>
              <a:t>改善案: フォームに確認画面とインラインバリデーションを実装</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7B3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0972800" cy="640080"/>
          </a:xfrm>
          <a:prstGeom prst="rect">
            <a:avLst/>
          </a:prstGeom>
          <a:noFill/>
        </p:spPr>
        <p:txBody>
          <a:bodyPr wrap="square">
            <a:spAutoFit/>
          </a:bodyPr>
          <a:lstStyle/>
          <a:p>
            <a:pPr algn="l"/>
            <a:r>
              <a:rPr sz="2200" b="1" i="0">
                <a:solidFill>
                  <a:srgbClr val="FFFFFF"/>
                </a:solidFill>
              </a:rPr>
              <a:t>ニールセン原則 詳細分析 — 詳細分析 (6〜10)</a:t>
            </a:r>
          </a:p>
        </p:txBody>
      </p:sp>
      <p:sp>
        <p:nvSpPr>
          <p:cNvPr id="4" name="Rectangle 3"/>
          <p:cNvSpPr/>
          <p:nvPr/>
        </p:nvSpPr>
        <p:spPr>
          <a:xfrm>
            <a:off x="182880" y="1143000"/>
            <a:ext cx="11795760" cy="97840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1143000"/>
            <a:ext cx="411480" cy="978408"/>
          </a:xfrm>
          <a:prstGeom prst="rect">
            <a:avLst/>
          </a:prstGeom>
          <a:solidFill>
            <a:srgbClr val="388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 y="1417320"/>
            <a:ext cx="365760" cy="365760"/>
          </a:xfrm>
          <a:prstGeom prst="rect">
            <a:avLst/>
          </a:prstGeom>
          <a:noFill/>
        </p:spPr>
        <p:txBody>
          <a:bodyPr wrap="square">
            <a:spAutoFit/>
          </a:bodyPr>
          <a:lstStyle/>
          <a:p>
            <a:pPr algn="ctr"/>
            <a:r>
              <a:rPr sz="1400" b="1" i="0">
                <a:solidFill>
                  <a:srgbClr val="FFFFFF"/>
                </a:solidFill>
              </a:rPr>
              <a:t>6</a:t>
            </a:r>
          </a:p>
        </p:txBody>
      </p:sp>
      <p:sp>
        <p:nvSpPr>
          <p:cNvPr id="7" name="TextBox 6"/>
          <p:cNvSpPr txBox="1"/>
          <p:nvPr/>
        </p:nvSpPr>
        <p:spPr>
          <a:xfrm>
            <a:off x="685800" y="1188720"/>
            <a:ext cx="4572000" cy="411480"/>
          </a:xfrm>
          <a:prstGeom prst="rect">
            <a:avLst/>
          </a:prstGeom>
          <a:noFill/>
        </p:spPr>
        <p:txBody>
          <a:bodyPr wrap="square">
            <a:spAutoFit/>
          </a:bodyPr>
          <a:lstStyle/>
          <a:p>
            <a:pPr algn="l"/>
            <a:r>
              <a:rPr sz="1200" b="1" i="0">
                <a:solidFill>
                  <a:srgbClr val="7B3F00"/>
                </a:solidFill>
              </a:rPr>
              <a:t>記憶より認識</a:t>
            </a:r>
          </a:p>
        </p:txBody>
      </p:sp>
      <p:sp>
        <p:nvSpPr>
          <p:cNvPr id="8" name="TextBox 7"/>
          <p:cNvSpPr txBox="1"/>
          <p:nvPr/>
        </p:nvSpPr>
        <p:spPr>
          <a:xfrm>
            <a:off x="685800" y="1188720"/>
            <a:ext cx="4572000" cy="411480"/>
          </a:xfrm>
          <a:prstGeom prst="rect">
            <a:avLst/>
          </a:prstGeom>
          <a:noFill/>
        </p:spPr>
        <p:txBody>
          <a:bodyPr wrap="square">
            <a:spAutoFit/>
          </a:bodyPr>
          <a:lstStyle/>
          <a:p>
            <a:pPr algn="l"/>
            <a:r>
              <a:rPr sz="1000" b="0" i="0">
                <a:solidFill>
                  <a:srgbClr val="787878"/>
                </a:solidFill>
              </a:rPr>
              <a:t/>
            </a:r>
          </a:p>
        </p:txBody>
      </p:sp>
      <p:sp>
        <p:nvSpPr>
          <p:cNvPr id="9" name="TextBox 8"/>
          <p:cNvSpPr txBox="1"/>
          <p:nvPr/>
        </p:nvSpPr>
        <p:spPr>
          <a:xfrm>
            <a:off x="10515600" y="1188720"/>
            <a:ext cx="1097280" cy="411480"/>
          </a:xfrm>
          <a:prstGeom prst="rect">
            <a:avLst/>
          </a:prstGeom>
          <a:noFill/>
        </p:spPr>
        <p:txBody>
          <a:bodyPr wrap="square">
            <a:spAutoFit/>
          </a:bodyPr>
          <a:lstStyle/>
          <a:p>
            <a:pPr algn="r"/>
            <a:r>
              <a:rPr sz="1400" b="1" i="0">
                <a:solidFill>
                  <a:srgbClr val="388E3C"/>
                </a:solidFill>
              </a:rPr>
              <a:t>★ 4/5</a:t>
            </a:r>
          </a:p>
        </p:txBody>
      </p:sp>
      <p:sp>
        <p:nvSpPr>
          <p:cNvPr id="10" name="TextBox 9"/>
          <p:cNvSpPr txBox="1"/>
          <p:nvPr/>
        </p:nvSpPr>
        <p:spPr>
          <a:xfrm>
            <a:off x="685800" y="1618488"/>
            <a:ext cx="5486400" cy="457200"/>
          </a:xfrm>
          <a:prstGeom prst="rect">
            <a:avLst/>
          </a:prstGeom>
          <a:noFill/>
        </p:spPr>
        <p:txBody>
          <a:bodyPr wrap="square">
            <a:spAutoFit/>
          </a:bodyPr>
          <a:lstStyle/>
          <a:p>
            <a:pPr algn="l"/>
            <a:r>
              <a:rPr sz="900" b="0" i="0">
                <a:solidFill>
                  <a:srgbClr val="D32F2F"/>
                </a:solidFill>
              </a:rPr>
              <a:t>課題: ・製品比較機能がない可能性　・用途別（焼き菓子・チョコレート等）のフィルターが確認できない</a:t>
            </a:r>
          </a:p>
        </p:txBody>
      </p:sp>
      <p:sp>
        <p:nvSpPr>
          <p:cNvPr id="11" name="TextBox 10"/>
          <p:cNvSpPr txBox="1"/>
          <p:nvPr/>
        </p:nvSpPr>
        <p:spPr>
          <a:xfrm>
            <a:off x="6400800" y="1618488"/>
            <a:ext cx="5486400" cy="457200"/>
          </a:xfrm>
          <a:prstGeom prst="rect">
            <a:avLst/>
          </a:prstGeom>
          <a:noFill/>
        </p:spPr>
        <p:txBody>
          <a:bodyPr wrap="square">
            <a:spAutoFit/>
          </a:bodyPr>
          <a:lstStyle/>
          <a:p>
            <a:pPr algn="l"/>
            <a:r>
              <a:rPr sz="900" b="0" i="0">
                <a:solidFill>
                  <a:srgbClr val="388E3C"/>
                </a:solidFill>
              </a:rPr>
              <a:t>改善案: 用途別フィルター（製菓・パン・アイス等）を製品一覧に設置</a:t>
            </a:r>
          </a:p>
        </p:txBody>
      </p:sp>
      <p:sp>
        <p:nvSpPr>
          <p:cNvPr id="12" name="Rectangle 11"/>
          <p:cNvSpPr/>
          <p:nvPr/>
        </p:nvSpPr>
        <p:spPr>
          <a:xfrm>
            <a:off x="182880" y="2194560"/>
            <a:ext cx="11795760" cy="97840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2194560"/>
            <a:ext cx="411480" cy="978408"/>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2468880"/>
            <a:ext cx="365760" cy="365760"/>
          </a:xfrm>
          <a:prstGeom prst="rect">
            <a:avLst/>
          </a:prstGeom>
          <a:noFill/>
        </p:spPr>
        <p:txBody>
          <a:bodyPr wrap="square">
            <a:spAutoFit/>
          </a:bodyPr>
          <a:lstStyle/>
          <a:p>
            <a:pPr algn="ctr"/>
            <a:r>
              <a:rPr sz="1400" b="1" i="0">
                <a:solidFill>
                  <a:srgbClr val="FFFFFF"/>
                </a:solidFill>
              </a:rPr>
              <a:t>7</a:t>
            </a:r>
          </a:p>
        </p:txBody>
      </p:sp>
      <p:sp>
        <p:nvSpPr>
          <p:cNvPr id="15" name="TextBox 14"/>
          <p:cNvSpPr txBox="1"/>
          <p:nvPr/>
        </p:nvSpPr>
        <p:spPr>
          <a:xfrm>
            <a:off x="685800" y="2240280"/>
            <a:ext cx="4572000" cy="411480"/>
          </a:xfrm>
          <a:prstGeom prst="rect">
            <a:avLst/>
          </a:prstGeom>
          <a:noFill/>
        </p:spPr>
        <p:txBody>
          <a:bodyPr wrap="square">
            <a:spAutoFit/>
          </a:bodyPr>
          <a:lstStyle/>
          <a:p>
            <a:pPr algn="l"/>
            <a:r>
              <a:rPr sz="1200" b="1" i="0">
                <a:solidFill>
                  <a:srgbClr val="7B3F00"/>
                </a:solidFill>
              </a:rPr>
              <a:t>柔軟性と効率</a:t>
            </a:r>
          </a:p>
        </p:txBody>
      </p:sp>
      <p:sp>
        <p:nvSpPr>
          <p:cNvPr id="16" name="TextBox 15"/>
          <p:cNvSpPr txBox="1"/>
          <p:nvPr/>
        </p:nvSpPr>
        <p:spPr>
          <a:xfrm>
            <a:off x="685800" y="2240280"/>
            <a:ext cx="4572000" cy="411480"/>
          </a:xfrm>
          <a:prstGeom prst="rect">
            <a:avLst/>
          </a:prstGeom>
          <a:noFill/>
        </p:spPr>
        <p:txBody>
          <a:bodyPr wrap="square">
            <a:spAutoFit/>
          </a:bodyPr>
          <a:lstStyle/>
          <a:p>
            <a:pPr algn="l"/>
            <a:r>
              <a:rPr sz="1000" b="0" i="0">
                <a:solidFill>
                  <a:srgbClr val="787878"/>
                </a:solidFill>
              </a:rPr>
              <a:t/>
            </a:r>
          </a:p>
        </p:txBody>
      </p:sp>
      <p:sp>
        <p:nvSpPr>
          <p:cNvPr id="17" name="TextBox 16"/>
          <p:cNvSpPr txBox="1"/>
          <p:nvPr/>
        </p:nvSpPr>
        <p:spPr>
          <a:xfrm>
            <a:off x="10515600" y="2240280"/>
            <a:ext cx="1097280" cy="411480"/>
          </a:xfrm>
          <a:prstGeom prst="rect">
            <a:avLst/>
          </a:prstGeom>
          <a:noFill/>
        </p:spPr>
        <p:txBody>
          <a:bodyPr wrap="square">
            <a:spAutoFit/>
          </a:bodyPr>
          <a:lstStyle/>
          <a:p>
            <a:pPr algn="r"/>
            <a:r>
              <a:rPr sz="1400" b="1" i="0">
                <a:solidFill>
                  <a:srgbClr val="D32F2F"/>
                </a:solidFill>
              </a:rPr>
              <a:t>★ 2/5</a:t>
            </a:r>
          </a:p>
        </p:txBody>
      </p:sp>
      <p:sp>
        <p:nvSpPr>
          <p:cNvPr id="18" name="TextBox 17"/>
          <p:cNvSpPr txBox="1"/>
          <p:nvPr/>
        </p:nvSpPr>
        <p:spPr>
          <a:xfrm>
            <a:off x="685800" y="2670048"/>
            <a:ext cx="5486400" cy="457200"/>
          </a:xfrm>
          <a:prstGeom prst="rect">
            <a:avLst/>
          </a:prstGeom>
          <a:noFill/>
        </p:spPr>
        <p:txBody>
          <a:bodyPr wrap="square">
            <a:spAutoFit/>
          </a:bodyPr>
          <a:lstStyle/>
          <a:p>
            <a:pPr algn="l"/>
            <a:r>
              <a:rPr sz="900" b="0" i="0">
                <a:solidFill>
                  <a:srgbClr val="D32F2F"/>
                </a:solidFill>
              </a:rPr>
              <a:t>課題: ・モバイル対応状況がサイト直接確認不可（403エラー）　・サイト内検索機能が確認できない</a:t>
            </a:r>
          </a:p>
        </p:txBody>
      </p:sp>
      <p:sp>
        <p:nvSpPr>
          <p:cNvPr id="19" name="TextBox 18"/>
          <p:cNvSpPr txBox="1"/>
          <p:nvPr/>
        </p:nvSpPr>
        <p:spPr>
          <a:xfrm>
            <a:off x="6400800" y="2670048"/>
            <a:ext cx="5486400" cy="457200"/>
          </a:xfrm>
          <a:prstGeom prst="rect">
            <a:avLst/>
          </a:prstGeom>
          <a:noFill/>
        </p:spPr>
        <p:txBody>
          <a:bodyPr wrap="square">
            <a:spAutoFit/>
          </a:bodyPr>
          <a:lstStyle/>
          <a:p>
            <a:pPr algn="l"/>
            <a:r>
              <a:rPr sz="900" b="0" i="0">
                <a:solidFill>
                  <a:srgbClr val="388E3C"/>
                </a:solidFill>
              </a:rPr>
              <a:t>改善案: モバイルファーストのレスポンシブデザインを確認・強化</a:t>
            </a:r>
          </a:p>
        </p:txBody>
      </p:sp>
      <p:sp>
        <p:nvSpPr>
          <p:cNvPr id="20" name="Rectangle 19"/>
          <p:cNvSpPr/>
          <p:nvPr/>
        </p:nvSpPr>
        <p:spPr>
          <a:xfrm>
            <a:off x="182880" y="3246120"/>
            <a:ext cx="11795760" cy="97840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3246120"/>
            <a:ext cx="411480" cy="978408"/>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520440"/>
            <a:ext cx="365760" cy="365760"/>
          </a:xfrm>
          <a:prstGeom prst="rect">
            <a:avLst/>
          </a:prstGeom>
          <a:noFill/>
        </p:spPr>
        <p:txBody>
          <a:bodyPr wrap="square">
            <a:spAutoFit/>
          </a:bodyPr>
          <a:lstStyle/>
          <a:p>
            <a:pPr algn="ctr"/>
            <a:r>
              <a:rPr sz="1400" b="1" i="0">
                <a:solidFill>
                  <a:srgbClr val="FFFFFF"/>
                </a:solidFill>
              </a:rPr>
              <a:t>8</a:t>
            </a:r>
          </a:p>
        </p:txBody>
      </p:sp>
      <p:sp>
        <p:nvSpPr>
          <p:cNvPr id="23" name="TextBox 22"/>
          <p:cNvSpPr txBox="1"/>
          <p:nvPr/>
        </p:nvSpPr>
        <p:spPr>
          <a:xfrm>
            <a:off x="685800" y="3291840"/>
            <a:ext cx="4572000" cy="411480"/>
          </a:xfrm>
          <a:prstGeom prst="rect">
            <a:avLst/>
          </a:prstGeom>
          <a:noFill/>
        </p:spPr>
        <p:txBody>
          <a:bodyPr wrap="square">
            <a:spAutoFit/>
          </a:bodyPr>
          <a:lstStyle/>
          <a:p>
            <a:pPr algn="l"/>
            <a:r>
              <a:rPr sz="1200" b="1" i="0">
                <a:solidFill>
                  <a:srgbClr val="7B3F00"/>
                </a:solidFill>
              </a:rPr>
              <a:t>審美的でミニマルなデザイン</a:t>
            </a:r>
          </a:p>
        </p:txBody>
      </p:sp>
      <p:sp>
        <p:nvSpPr>
          <p:cNvPr id="24" name="TextBox 23"/>
          <p:cNvSpPr txBox="1"/>
          <p:nvPr/>
        </p:nvSpPr>
        <p:spPr>
          <a:xfrm>
            <a:off x="685800" y="3291840"/>
            <a:ext cx="4572000" cy="411480"/>
          </a:xfrm>
          <a:prstGeom prst="rect">
            <a:avLst/>
          </a:prstGeom>
          <a:noFill/>
        </p:spPr>
        <p:txBody>
          <a:bodyPr wrap="square">
            <a:spAutoFit/>
          </a:bodyPr>
          <a:lstStyle/>
          <a:p>
            <a:pPr algn="l"/>
            <a:r>
              <a:rPr sz="1000" b="0" i="0">
                <a:solidFill>
                  <a:srgbClr val="787878"/>
                </a:solidFill>
              </a:rPr>
              <a:t/>
            </a:r>
          </a:p>
        </p:txBody>
      </p:sp>
      <p:sp>
        <p:nvSpPr>
          <p:cNvPr id="25" name="TextBox 24"/>
          <p:cNvSpPr txBox="1"/>
          <p:nvPr/>
        </p:nvSpPr>
        <p:spPr>
          <a:xfrm>
            <a:off x="10515600" y="3291840"/>
            <a:ext cx="1097280" cy="411480"/>
          </a:xfrm>
          <a:prstGeom prst="rect">
            <a:avLst/>
          </a:prstGeom>
          <a:noFill/>
        </p:spPr>
        <p:txBody>
          <a:bodyPr wrap="square">
            <a:spAutoFit/>
          </a:bodyPr>
          <a:lstStyle/>
          <a:p>
            <a:pPr algn="r"/>
            <a:r>
              <a:rPr sz="1400" b="1" i="0">
                <a:solidFill>
                  <a:srgbClr val="F57C00"/>
                </a:solidFill>
              </a:rPr>
              <a:t>★ 3/5</a:t>
            </a:r>
          </a:p>
        </p:txBody>
      </p:sp>
      <p:sp>
        <p:nvSpPr>
          <p:cNvPr id="26" name="TextBox 25"/>
          <p:cNvSpPr txBox="1"/>
          <p:nvPr/>
        </p:nvSpPr>
        <p:spPr>
          <a:xfrm>
            <a:off x="685800" y="3721608"/>
            <a:ext cx="5486400" cy="457200"/>
          </a:xfrm>
          <a:prstGeom prst="rect">
            <a:avLst/>
          </a:prstGeom>
          <a:noFill/>
        </p:spPr>
        <p:txBody>
          <a:bodyPr wrap="square">
            <a:spAutoFit/>
          </a:bodyPr>
          <a:lstStyle/>
          <a:p>
            <a:pPr algn="l"/>
            <a:r>
              <a:rPr sz="900" b="0" i="0">
                <a:solidFill>
                  <a:srgbClr val="D32F2F"/>
                </a:solidFill>
              </a:rPr>
              <a:t>課題: ・URLパス（/html/ プレフィックス）が古い設計を示唆しCMS管理されていない可能性　・PDFがサイト上に直接配置されデジタルカタログへの移行が遅れている可能性</a:t>
            </a:r>
          </a:p>
        </p:txBody>
      </p:sp>
      <p:sp>
        <p:nvSpPr>
          <p:cNvPr id="27" name="TextBox 26"/>
          <p:cNvSpPr txBox="1"/>
          <p:nvPr/>
        </p:nvSpPr>
        <p:spPr>
          <a:xfrm>
            <a:off x="6400800" y="3721608"/>
            <a:ext cx="5486400" cy="457200"/>
          </a:xfrm>
          <a:prstGeom prst="rect">
            <a:avLst/>
          </a:prstGeom>
          <a:noFill/>
        </p:spPr>
        <p:txBody>
          <a:bodyPr wrap="square">
            <a:spAutoFit/>
          </a:bodyPr>
          <a:lstStyle/>
          <a:p>
            <a:pPr algn="l"/>
            <a:r>
              <a:rPr sz="900" b="0" i="0">
                <a:solidFill>
                  <a:srgbClr val="388E3C"/>
                </a:solidFill>
              </a:rPr>
              <a:t>改善案: CMSへの移行でコンテンツ管理と表示品質を向上</a:t>
            </a:r>
          </a:p>
        </p:txBody>
      </p:sp>
      <p:sp>
        <p:nvSpPr>
          <p:cNvPr id="28" name="Rectangle 27"/>
          <p:cNvSpPr/>
          <p:nvPr/>
        </p:nvSpPr>
        <p:spPr>
          <a:xfrm>
            <a:off x="182880" y="4297680"/>
            <a:ext cx="11795760" cy="97840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82880" y="4297680"/>
            <a:ext cx="411480" cy="978408"/>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1168" y="4572000"/>
            <a:ext cx="365760" cy="365760"/>
          </a:xfrm>
          <a:prstGeom prst="rect">
            <a:avLst/>
          </a:prstGeom>
          <a:noFill/>
        </p:spPr>
        <p:txBody>
          <a:bodyPr wrap="square">
            <a:spAutoFit/>
          </a:bodyPr>
          <a:lstStyle/>
          <a:p>
            <a:pPr algn="ctr"/>
            <a:r>
              <a:rPr sz="1400" b="1" i="0">
                <a:solidFill>
                  <a:srgbClr val="FFFFFF"/>
                </a:solidFill>
              </a:rPr>
              <a:t>9</a:t>
            </a:r>
          </a:p>
        </p:txBody>
      </p:sp>
      <p:sp>
        <p:nvSpPr>
          <p:cNvPr id="31" name="TextBox 30"/>
          <p:cNvSpPr txBox="1"/>
          <p:nvPr/>
        </p:nvSpPr>
        <p:spPr>
          <a:xfrm>
            <a:off x="685800" y="4343400"/>
            <a:ext cx="4572000" cy="411480"/>
          </a:xfrm>
          <a:prstGeom prst="rect">
            <a:avLst/>
          </a:prstGeom>
          <a:noFill/>
        </p:spPr>
        <p:txBody>
          <a:bodyPr wrap="square">
            <a:spAutoFit/>
          </a:bodyPr>
          <a:lstStyle/>
          <a:p>
            <a:pPr algn="l"/>
            <a:r>
              <a:rPr sz="1200" b="1" i="0">
                <a:solidFill>
                  <a:srgbClr val="7B3F00"/>
                </a:solidFill>
              </a:rPr>
              <a:t>エラーの認識・診断・回復を助ける</a:t>
            </a:r>
          </a:p>
        </p:txBody>
      </p:sp>
      <p:sp>
        <p:nvSpPr>
          <p:cNvPr id="32" name="TextBox 31"/>
          <p:cNvSpPr txBox="1"/>
          <p:nvPr/>
        </p:nvSpPr>
        <p:spPr>
          <a:xfrm>
            <a:off x="685800" y="4343400"/>
            <a:ext cx="4572000" cy="411480"/>
          </a:xfrm>
          <a:prstGeom prst="rect">
            <a:avLst/>
          </a:prstGeom>
          <a:noFill/>
        </p:spPr>
        <p:txBody>
          <a:bodyPr wrap="square">
            <a:spAutoFit/>
          </a:bodyPr>
          <a:lstStyle/>
          <a:p>
            <a:pPr algn="l"/>
            <a:r>
              <a:rPr sz="1000" b="0" i="0">
                <a:solidFill>
                  <a:srgbClr val="787878"/>
                </a:solidFill>
              </a:rPr>
              <a:t/>
            </a:r>
          </a:p>
        </p:txBody>
      </p:sp>
      <p:sp>
        <p:nvSpPr>
          <p:cNvPr id="33" name="TextBox 32"/>
          <p:cNvSpPr txBox="1"/>
          <p:nvPr/>
        </p:nvSpPr>
        <p:spPr>
          <a:xfrm>
            <a:off x="10515600" y="4343400"/>
            <a:ext cx="1097280" cy="411480"/>
          </a:xfrm>
          <a:prstGeom prst="rect">
            <a:avLst/>
          </a:prstGeom>
          <a:noFill/>
        </p:spPr>
        <p:txBody>
          <a:bodyPr wrap="square">
            <a:spAutoFit/>
          </a:bodyPr>
          <a:lstStyle/>
          <a:p>
            <a:pPr algn="r"/>
            <a:r>
              <a:rPr sz="1400" b="1" i="0">
                <a:solidFill>
                  <a:srgbClr val="D32F2F"/>
                </a:solidFill>
              </a:rPr>
              <a:t>★ 2/5</a:t>
            </a:r>
          </a:p>
        </p:txBody>
      </p:sp>
      <p:sp>
        <p:nvSpPr>
          <p:cNvPr id="34" name="TextBox 33"/>
          <p:cNvSpPr txBox="1"/>
          <p:nvPr/>
        </p:nvSpPr>
        <p:spPr>
          <a:xfrm>
            <a:off x="685800" y="4773168"/>
            <a:ext cx="5486400" cy="457200"/>
          </a:xfrm>
          <a:prstGeom prst="rect">
            <a:avLst/>
          </a:prstGeom>
          <a:noFill/>
        </p:spPr>
        <p:txBody>
          <a:bodyPr wrap="square">
            <a:spAutoFit/>
          </a:bodyPr>
          <a:lstStyle/>
          <a:p>
            <a:pPr algn="l"/>
            <a:r>
              <a:rPr sz="900" b="0" i="0">
                <a:solidFill>
                  <a:srgbClr val="D32F2F"/>
                </a:solidFill>
              </a:rPr>
              <a:t>課題: ・カスタム404ページの有無が確認できない　・サイトがクローラーをブロック（403）しており、SEOクローラビリティへの影響が懸念される</a:t>
            </a:r>
          </a:p>
        </p:txBody>
      </p:sp>
      <p:sp>
        <p:nvSpPr>
          <p:cNvPr id="35" name="TextBox 34"/>
          <p:cNvSpPr txBox="1"/>
          <p:nvPr/>
        </p:nvSpPr>
        <p:spPr>
          <a:xfrm>
            <a:off x="6400800" y="4773168"/>
            <a:ext cx="5486400" cy="457200"/>
          </a:xfrm>
          <a:prstGeom prst="rect">
            <a:avLst/>
          </a:prstGeom>
          <a:noFill/>
        </p:spPr>
        <p:txBody>
          <a:bodyPr wrap="square">
            <a:spAutoFit/>
          </a:bodyPr>
          <a:lstStyle/>
          <a:p>
            <a:pPr algn="l"/>
            <a:r>
              <a:rPr sz="900" b="0" i="0">
                <a:solidFill>
                  <a:srgbClr val="388E3C"/>
                </a:solidFill>
              </a:rPr>
              <a:t>改善案: カスタム404ページを作成（製品一覧・お問い合わせへのリンク付き）</a:t>
            </a:r>
          </a:p>
        </p:txBody>
      </p:sp>
      <p:sp>
        <p:nvSpPr>
          <p:cNvPr id="36" name="Rectangle 35"/>
          <p:cNvSpPr/>
          <p:nvPr/>
        </p:nvSpPr>
        <p:spPr>
          <a:xfrm>
            <a:off x="182880" y="5349240"/>
            <a:ext cx="11795760" cy="97840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82880" y="5349240"/>
            <a:ext cx="411480" cy="978408"/>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01168" y="5623560"/>
            <a:ext cx="365760" cy="365760"/>
          </a:xfrm>
          <a:prstGeom prst="rect">
            <a:avLst/>
          </a:prstGeom>
          <a:noFill/>
        </p:spPr>
        <p:txBody>
          <a:bodyPr wrap="square">
            <a:spAutoFit/>
          </a:bodyPr>
          <a:lstStyle/>
          <a:p>
            <a:pPr algn="ctr"/>
            <a:r>
              <a:rPr sz="1400" b="1" i="0">
                <a:solidFill>
                  <a:srgbClr val="FFFFFF"/>
                </a:solidFill>
              </a:rPr>
              <a:t>10</a:t>
            </a:r>
          </a:p>
        </p:txBody>
      </p:sp>
      <p:sp>
        <p:nvSpPr>
          <p:cNvPr id="39" name="TextBox 38"/>
          <p:cNvSpPr txBox="1"/>
          <p:nvPr/>
        </p:nvSpPr>
        <p:spPr>
          <a:xfrm>
            <a:off x="685800" y="5394960"/>
            <a:ext cx="4572000" cy="411480"/>
          </a:xfrm>
          <a:prstGeom prst="rect">
            <a:avLst/>
          </a:prstGeom>
          <a:noFill/>
        </p:spPr>
        <p:txBody>
          <a:bodyPr wrap="square">
            <a:spAutoFit/>
          </a:bodyPr>
          <a:lstStyle/>
          <a:p>
            <a:pPr algn="l"/>
            <a:r>
              <a:rPr sz="1200" b="1" i="0">
                <a:solidFill>
                  <a:srgbClr val="7B3F00"/>
                </a:solidFill>
              </a:rPr>
              <a:t>ヘルプとドキュメント</a:t>
            </a:r>
          </a:p>
        </p:txBody>
      </p:sp>
      <p:sp>
        <p:nvSpPr>
          <p:cNvPr id="40" name="TextBox 39"/>
          <p:cNvSpPr txBox="1"/>
          <p:nvPr/>
        </p:nvSpPr>
        <p:spPr>
          <a:xfrm>
            <a:off x="685800" y="5394960"/>
            <a:ext cx="4572000" cy="411480"/>
          </a:xfrm>
          <a:prstGeom prst="rect">
            <a:avLst/>
          </a:prstGeom>
          <a:noFill/>
        </p:spPr>
        <p:txBody>
          <a:bodyPr wrap="square">
            <a:spAutoFit/>
          </a:bodyPr>
          <a:lstStyle/>
          <a:p>
            <a:pPr algn="l"/>
            <a:r>
              <a:rPr sz="1000" b="0" i="0">
                <a:solidFill>
                  <a:srgbClr val="787878"/>
                </a:solidFill>
              </a:rPr>
              <a:t/>
            </a:r>
          </a:p>
        </p:txBody>
      </p:sp>
      <p:sp>
        <p:nvSpPr>
          <p:cNvPr id="41" name="TextBox 40"/>
          <p:cNvSpPr txBox="1"/>
          <p:nvPr/>
        </p:nvSpPr>
        <p:spPr>
          <a:xfrm>
            <a:off x="10515600" y="5394960"/>
            <a:ext cx="1097280" cy="411480"/>
          </a:xfrm>
          <a:prstGeom prst="rect">
            <a:avLst/>
          </a:prstGeom>
          <a:noFill/>
        </p:spPr>
        <p:txBody>
          <a:bodyPr wrap="square">
            <a:spAutoFit/>
          </a:bodyPr>
          <a:lstStyle/>
          <a:p>
            <a:pPr algn="r"/>
            <a:r>
              <a:rPr sz="1400" b="1" i="0">
                <a:solidFill>
                  <a:srgbClr val="F57C00"/>
                </a:solidFill>
              </a:rPr>
              <a:t>★ 3/5</a:t>
            </a:r>
          </a:p>
        </p:txBody>
      </p:sp>
      <p:sp>
        <p:nvSpPr>
          <p:cNvPr id="42" name="TextBox 41"/>
          <p:cNvSpPr txBox="1"/>
          <p:nvPr/>
        </p:nvSpPr>
        <p:spPr>
          <a:xfrm>
            <a:off x="685800" y="5824728"/>
            <a:ext cx="5486400" cy="457200"/>
          </a:xfrm>
          <a:prstGeom prst="rect">
            <a:avLst/>
          </a:prstGeom>
          <a:noFill/>
        </p:spPr>
        <p:txBody>
          <a:bodyPr wrap="square">
            <a:spAutoFit/>
          </a:bodyPr>
          <a:lstStyle/>
          <a:p>
            <a:pPr algn="l"/>
            <a:r>
              <a:rPr sz="900" b="0" i="0">
                <a:solidFill>
                  <a:srgbClr val="D32F2F"/>
                </a:solidFill>
              </a:rPr>
              <a:t>課題: ・FAQページが確認できない（取引条件・サンプル請求など）　・製品選定ガイドや用途別活用例ドキュメントが不明</a:t>
            </a:r>
          </a:p>
        </p:txBody>
      </p:sp>
      <p:sp>
        <p:nvSpPr>
          <p:cNvPr id="43" name="TextBox 42"/>
          <p:cNvSpPr txBox="1"/>
          <p:nvPr/>
        </p:nvSpPr>
        <p:spPr>
          <a:xfrm>
            <a:off x="6400800" y="5824728"/>
            <a:ext cx="5486400" cy="457200"/>
          </a:xfrm>
          <a:prstGeom prst="rect">
            <a:avLst/>
          </a:prstGeom>
          <a:noFill/>
        </p:spPr>
        <p:txBody>
          <a:bodyPr wrap="square">
            <a:spAutoFit/>
          </a:bodyPr>
          <a:lstStyle/>
          <a:p>
            <a:pPr algn="l"/>
            <a:r>
              <a:rPr sz="900" b="0" i="0">
                <a:solidFill>
                  <a:srgbClr val="388E3C"/>
                </a:solidFill>
              </a:rPr>
              <a:t>改善案: FAQページを新設（サンプル請求・取引条件・アレルゲン・最小ロット等）</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7B3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0972800" cy="640080"/>
          </a:xfrm>
          <a:prstGeom prst="rect">
            <a:avLst/>
          </a:prstGeom>
          <a:noFill/>
        </p:spPr>
        <p:txBody>
          <a:bodyPr wrap="square">
            <a:spAutoFit/>
          </a:bodyPr>
          <a:lstStyle/>
          <a:p>
            <a:pPr algn="l"/>
            <a:r>
              <a:rPr sz="2400" b="1" i="0">
                <a:solidFill>
                  <a:srgbClr val="FFFFFF"/>
                </a:solidFill>
              </a:rPr>
              <a:t>優先改善提案 &amp; ロードマップ</a:t>
            </a:r>
          </a:p>
        </p:txBody>
      </p:sp>
      <p:sp>
        <p:nvSpPr>
          <p:cNvPr id="4" name="TextBox 3"/>
          <p:cNvSpPr txBox="1"/>
          <p:nvPr/>
        </p:nvSpPr>
        <p:spPr>
          <a:xfrm>
            <a:off x="365760" y="1097280"/>
            <a:ext cx="6858000" cy="365760"/>
          </a:xfrm>
          <a:prstGeom prst="rect">
            <a:avLst/>
          </a:prstGeom>
          <a:noFill/>
        </p:spPr>
        <p:txBody>
          <a:bodyPr wrap="square">
            <a:spAutoFit/>
          </a:bodyPr>
          <a:lstStyle/>
          <a:p>
            <a:pPr algn="l"/>
            <a:r>
              <a:rPr sz="1400" b="1" i="0">
                <a:solidFill>
                  <a:srgbClr val="7B3F00"/>
                </a:solidFill>
              </a:rPr>
              <a:t>改善提案（優先度順）</a:t>
            </a:r>
          </a:p>
        </p:txBody>
      </p:sp>
      <p:sp>
        <p:nvSpPr>
          <p:cNvPr id="5" name="Rectangle 4"/>
          <p:cNvSpPr/>
          <p:nvPr/>
        </p:nvSpPr>
        <p:spPr>
          <a:xfrm>
            <a:off x="365760" y="1508760"/>
            <a:ext cx="457200" cy="502920"/>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93192" y="1554480"/>
            <a:ext cx="411480" cy="411480"/>
          </a:xfrm>
          <a:prstGeom prst="rect">
            <a:avLst/>
          </a:prstGeom>
          <a:noFill/>
        </p:spPr>
        <p:txBody>
          <a:bodyPr wrap="square">
            <a:spAutoFit/>
          </a:bodyPr>
          <a:lstStyle/>
          <a:p>
            <a:pPr algn="ctr"/>
            <a:r>
              <a:rPr sz="1100" b="1" i="0">
                <a:solidFill>
                  <a:srgbClr val="FFFFFF"/>
                </a:solidFill>
              </a:rPr>
              <a:t>P1</a:t>
            </a:r>
          </a:p>
        </p:txBody>
      </p:sp>
      <p:sp>
        <p:nvSpPr>
          <p:cNvPr id="7" name="TextBox 6"/>
          <p:cNvSpPr txBox="1"/>
          <p:nvPr/>
        </p:nvSpPr>
        <p:spPr>
          <a:xfrm>
            <a:off x="914400" y="1554480"/>
            <a:ext cx="5943600" cy="502920"/>
          </a:xfrm>
          <a:prstGeom prst="rect">
            <a:avLst/>
          </a:prstGeom>
          <a:noFill/>
        </p:spPr>
        <p:txBody>
          <a:bodyPr wrap="square">
            <a:spAutoFit/>
          </a:bodyPr>
          <a:lstStyle/>
          <a:p>
            <a:pPr algn="l"/>
            <a:r>
              <a:rPr sz="1100" b="0" i="0">
                <a:solidFill>
                  <a:srgbClr val="1A1A2E"/>
                </a:solidFill>
              </a:rPr>
              <a:t>GoogleBot等正規クローラーの許可設定を見直し、SEOクローラビリティを改善する</a:t>
            </a:r>
          </a:p>
        </p:txBody>
      </p:sp>
      <p:sp>
        <p:nvSpPr>
          <p:cNvPr id="8" name="Rectangle 7"/>
          <p:cNvSpPr/>
          <p:nvPr/>
        </p:nvSpPr>
        <p:spPr>
          <a:xfrm>
            <a:off x="365760" y="2286000"/>
            <a:ext cx="457200" cy="502920"/>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3192" y="2331720"/>
            <a:ext cx="411480" cy="411480"/>
          </a:xfrm>
          <a:prstGeom prst="rect">
            <a:avLst/>
          </a:prstGeom>
          <a:noFill/>
        </p:spPr>
        <p:txBody>
          <a:bodyPr wrap="square">
            <a:spAutoFit/>
          </a:bodyPr>
          <a:lstStyle/>
          <a:p>
            <a:pPr algn="ctr"/>
            <a:r>
              <a:rPr sz="1100" b="1" i="0">
                <a:solidFill>
                  <a:srgbClr val="FFFFFF"/>
                </a:solidFill>
              </a:rPr>
              <a:t>P2</a:t>
            </a:r>
          </a:p>
        </p:txBody>
      </p:sp>
      <p:sp>
        <p:nvSpPr>
          <p:cNvPr id="10" name="TextBox 9"/>
          <p:cNvSpPr txBox="1"/>
          <p:nvPr/>
        </p:nvSpPr>
        <p:spPr>
          <a:xfrm>
            <a:off x="914400" y="2331720"/>
            <a:ext cx="5943600" cy="502920"/>
          </a:xfrm>
          <a:prstGeom prst="rect">
            <a:avLst/>
          </a:prstGeom>
          <a:noFill/>
        </p:spPr>
        <p:txBody>
          <a:bodyPr wrap="square">
            <a:spAutoFit/>
          </a:bodyPr>
          <a:lstStyle/>
          <a:p>
            <a:pPr algn="l"/>
            <a:r>
              <a:rPr sz="1100" b="0" i="0">
                <a:solidFill>
                  <a:srgbClr val="1A1A2E"/>
                </a:solidFill>
              </a:rPr>
              <a:t>サイト内検索機能を実装し、製品・レシピ・コラムを横断検索できるようにする</a:t>
            </a:r>
          </a:p>
        </p:txBody>
      </p:sp>
      <p:sp>
        <p:nvSpPr>
          <p:cNvPr id="11" name="Rectangle 10"/>
          <p:cNvSpPr/>
          <p:nvPr/>
        </p:nvSpPr>
        <p:spPr>
          <a:xfrm>
            <a:off x="365760" y="3063240"/>
            <a:ext cx="457200" cy="50292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3192" y="3108960"/>
            <a:ext cx="411480" cy="411480"/>
          </a:xfrm>
          <a:prstGeom prst="rect">
            <a:avLst/>
          </a:prstGeom>
          <a:noFill/>
        </p:spPr>
        <p:txBody>
          <a:bodyPr wrap="square">
            <a:spAutoFit/>
          </a:bodyPr>
          <a:lstStyle/>
          <a:p>
            <a:pPr algn="ctr"/>
            <a:r>
              <a:rPr sz="1100" b="1" i="0">
                <a:solidFill>
                  <a:srgbClr val="FFFFFF"/>
                </a:solidFill>
              </a:rPr>
              <a:t>P3</a:t>
            </a:r>
          </a:p>
        </p:txBody>
      </p:sp>
      <p:sp>
        <p:nvSpPr>
          <p:cNvPr id="13" name="TextBox 12"/>
          <p:cNvSpPr txBox="1"/>
          <p:nvPr/>
        </p:nvSpPr>
        <p:spPr>
          <a:xfrm>
            <a:off x="914400" y="3108960"/>
            <a:ext cx="5943600" cy="502920"/>
          </a:xfrm>
          <a:prstGeom prst="rect">
            <a:avLst/>
          </a:prstGeom>
          <a:noFill/>
        </p:spPr>
        <p:txBody>
          <a:bodyPr wrap="square">
            <a:spAutoFit/>
          </a:bodyPr>
          <a:lstStyle/>
          <a:p>
            <a:pPr algn="l"/>
            <a:r>
              <a:rPr sz="1100" b="0" i="0">
                <a:solidFill>
                  <a:srgbClr val="1A1A2E"/>
                </a:solidFill>
              </a:rPr>
              <a:t>公式SNSアカウント（Instagram・LinkedIn等）を開設しサイトへのリンクを追加する</a:t>
            </a:r>
          </a:p>
        </p:txBody>
      </p:sp>
      <p:sp>
        <p:nvSpPr>
          <p:cNvPr id="14" name="Rectangle 13"/>
          <p:cNvSpPr/>
          <p:nvPr/>
        </p:nvSpPr>
        <p:spPr>
          <a:xfrm>
            <a:off x="365760" y="3840480"/>
            <a:ext cx="457200" cy="50292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3192" y="3886200"/>
            <a:ext cx="411480" cy="411480"/>
          </a:xfrm>
          <a:prstGeom prst="rect">
            <a:avLst/>
          </a:prstGeom>
          <a:noFill/>
        </p:spPr>
        <p:txBody>
          <a:bodyPr wrap="square">
            <a:spAutoFit/>
          </a:bodyPr>
          <a:lstStyle/>
          <a:p>
            <a:pPr algn="ctr"/>
            <a:r>
              <a:rPr sz="1100" b="1" i="0">
                <a:solidFill>
                  <a:srgbClr val="FFFFFF"/>
                </a:solidFill>
              </a:rPr>
              <a:t>P4</a:t>
            </a:r>
          </a:p>
        </p:txBody>
      </p:sp>
      <p:sp>
        <p:nvSpPr>
          <p:cNvPr id="16" name="TextBox 15"/>
          <p:cNvSpPr txBox="1"/>
          <p:nvPr/>
        </p:nvSpPr>
        <p:spPr>
          <a:xfrm>
            <a:off x="914400" y="3886200"/>
            <a:ext cx="5943600" cy="502920"/>
          </a:xfrm>
          <a:prstGeom prst="rect">
            <a:avLst/>
          </a:prstGeom>
          <a:noFill/>
        </p:spPr>
        <p:txBody>
          <a:bodyPr wrap="square">
            <a:spAutoFit/>
          </a:bodyPr>
          <a:lstStyle/>
          <a:p>
            <a:pPr algn="l"/>
            <a:r>
              <a:rPr sz="1100" b="0" i="0">
                <a:solidFill>
                  <a:srgbClr val="1A1A2E"/>
                </a:solidFill>
              </a:rPr>
              <a:t>FAQページを新設（サンプル請求・取引条件・最小ロット・アレルゲン情報等）</a:t>
            </a:r>
          </a:p>
        </p:txBody>
      </p:sp>
      <p:sp>
        <p:nvSpPr>
          <p:cNvPr id="17" name="Rectangle 16"/>
          <p:cNvSpPr/>
          <p:nvPr/>
        </p:nvSpPr>
        <p:spPr>
          <a:xfrm>
            <a:off x="365760" y="4617720"/>
            <a:ext cx="457200" cy="502920"/>
          </a:xfrm>
          <a:prstGeom prst="rect">
            <a:avLst/>
          </a:prstGeom>
          <a:solidFill>
            <a:srgbClr val="42A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3192" y="4663440"/>
            <a:ext cx="411480" cy="411480"/>
          </a:xfrm>
          <a:prstGeom prst="rect">
            <a:avLst/>
          </a:prstGeom>
          <a:noFill/>
        </p:spPr>
        <p:txBody>
          <a:bodyPr wrap="square">
            <a:spAutoFit/>
          </a:bodyPr>
          <a:lstStyle/>
          <a:p>
            <a:pPr algn="ctr"/>
            <a:r>
              <a:rPr sz="1100" b="1" i="0">
                <a:solidFill>
                  <a:srgbClr val="FFFFFF"/>
                </a:solidFill>
              </a:rPr>
              <a:t>P5</a:t>
            </a:r>
          </a:p>
        </p:txBody>
      </p:sp>
      <p:sp>
        <p:nvSpPr>
          <p:cNvPr id="19" name="TextBox 18"/>
          <p:cNvSpPr txBox="1"/>
          <p:nvPr/>
        </p:nvSpPr>
        <p:spPr>
          <a:xfrm>
            <a:off x="914400" y="4663440"/>
            <a:ext cx="5943600" cy="502920"/>
          </a:xfrm>
          <a:prstGeom prst="rect">
            <a:avLst/>
          </a:prstGeom>
          <a:noFill/>
        </p:spPr>
        <p:txBody>
          <a:bodyPr wrap="square">
            <a:spAutoFit/>
          </a:bodyPr>
          <a:lstStyle/>
          <a:p>
            <a:pPr algn="l"/>
            <a:r>
              <a:rPr sz="1100" b="0" i="0">
                <a:solidFill>
                  <a:srgbClr val="1A1A2E"/>
                </a:solidFill>
              </a:rPr>
              <a:t>CMSへ移行し、URLパス構造の刷新・保守性向上・デザイン統一を実現する</a:t>
            </a:r>
          </a:p>
        </p:txBody>
      </p:sp>
      <p:sp>
        <p:nvSpPr>
          <p:cNvPr id="20" name="Rectangle 19"/>
          <p:cNvSpPr/>
          <p:nvPr/>
        </p:nvSpPr>
        <p:spPr>
          <a:xfrm>
            <a:off x="7498079" y="1097280"/>
            <a:ext cx="4480560" cy="53949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0" y="1188720"/>
            <a:ext cx="4114800" cy="457200"/>
          </a:xfrm>
          <a:prstGeom prst="rect">
            <a:avLst/>
          </a:prstGeom>
          <a:noFill/>
        </p:spPr>
        <p:txBody>
          <a:bodyPr wrap="square">
            <a:spAutoFit/>
          </a:bodyPr>
          <a:lstStyle/>
          <a:p>
            <a:pPr algn="l"/>
            <a:r>
              <a:rPr sz="1300" b="1" i="0">
                <a:solidFill>
                  <a:srgbClr val="388E3C"/>
                </a:solidFill>
              </a:rPr>
              <a:t>💡 改善による期待効果</a:t>
            </a:r>
          </a:p>
        </p:txBody>
      </p:sp>
      <p:sp>
        <p:nvSpPr>
          <p:cNvPr id="22" name="Rectangle 21"/>
          <p:cNvSpPr/>
          <p:nvPr/>
        </p:nvSpPr>
        <p:spPr>
          <a:xfrm>
            <a:off x="7680960" y="1737360"/>
            <a:ext cx="41148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1783080"/>
            <a:ext cx="2286000" cy="320040"/>
          </a:xfrm>
          <a:prstGeom prst="rect">
            <a:avLst/>
          </a:prstGeom>
          <a:noFill/>
        </p:spPr>
        <p:txBody>
          <a:bodyPr wrap="square">
            <a:spAutoFit/>
          </a:bodyPr>
          <a:lstStyle/>
          <a:p>
            <a:pPr algn="l"/>
            <a:r>
              <a:rPr sz="1100" b="0" i="0">
                <a:solidFill>
                  <a:srgbClr val="787878"/>
                </a:solidFill>
              </a:rPr>
              <a:t>問い合わせ数</a:t>
            </a:r>
          </a:p>
        </p:txBody>
      </p:sp>
      <p:sp>
        <p:nvSpPr>
          <p:cNvPr id="24" name="TextBox 23"/>
          <p:cNvSpPr txBox="1"/>
          <p:nvPr/>
        </p:nvSpPr>
        <p:spPr>
          <a:xfrm>
            <a:off x="9144000" y="1783080"/>
            <a:ext cx="2468880" cy="320040"/>
          </a:xfrm>
          <a:prstGeom prst="rect">
            <a:avLst/>
          </a:prstGeom>
          <a:noFill/>
        </p:spPr>
        <p:txBody>
          <a:bodyPr wrap="square">
            <a:spAutoFit/>
          </a:bodyPr>
          <a:lstStyle/>
          <a:p>
            <a:pPr algn="r"/>
            <a:r>
              <a:rPr sz="1300" b="1" i="0">
                <a:solidFill>
                  <a:srgbClr val="388E3C"/>
                </a:solidFill>
              </a:rPr>
              <a:t>2〜3倍増加</a:t>
            </a:r>
          </a:p>
        </p:txBody>
      </p:sp>
      <p:sp>
        <p:nvSpPr>
          <p:cNvPr id="25" name="Rectangle 24"/>
          <p:cNvSpPr/>
          <p:nvPr/>
        </p:nvSpPr>
        <p:spPr>
          <a:xfrm>
            <a:off x="7680960" y="2560320"/>
            <a:ext cx="41148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2606040"/>
            <a:ext cx="2286000" cy="320040"/>
          </a:xfrm>
          <a:prstGeom prst="rect">
            <a:avLst/>
          </a:prstGeom>
          <a:noFill/>
        </p:spPr>
        <p:txBody>
          <a:bodyPr wrap="square">
            <a:spAutoFit/>
          </a:bodyPr>
          <a:lstStyle/>
          <a:p>
            <a:pPr algn="l"/>
            <a:r>
              <a:rPr sz="1100" b="0" i="0">
                <a:solidFill>
                  <a:srgbClr val="787878"/>
                </a:solidFill>
              </a:rPr>
              <a:t>直帰率</a:t>
            </a:r>
          </a:p>
        </p:txBody>
      </p:sp>
      <p:sp>
        <p:nvSpPr>
          <p:cNvPr id="27" name="TextBox 26"/>
          <p:cNvSpPr txBox="1"/>
          <p:nvPr/>
        </p:nvSpPr>
        <p:spPr>
          <a:xfrm>
            <a:off x="9144000" y="2606040"/>
            <a:ext cx="2468880" cy="320040"/>
          </a:xfrm>
          <a:prstGeom prst="rect">
            <a:avLst/>
          </a:prstGeom>
          <a:noFill/>
        </p:spPr>
        <p:txBody>
          <a:bodyPr wrap="square">
            <a:spAutoFit/>
          </a:bodyPr>
          <a:lstStyle/>
          <a:p>
            <a:pPr algn="r"/>
            <a:r>
              <a:rPr sz="1300" b="1" i="0">
                <a:solidFill>
                  <a:srgbClr val="388E3C"/>
                </a:solidFill>
              </a:rPr>
              <a:t>20〜30%改善</a:t>
            </a:r>
          </a:p>
        </p:txBody>
      </p:sp>
      <p:sp>
        <p:nvSpPr>
          <p:cNvPr id="28" name="Rectangle 27"/>
          <p:cNvSpPr/>
          <p:nvPr/>
        </p:nvSpPr>
        <p:spPr>
          <a:xfrm>
            <a:off x="7680960" y="3383280"/>
            <a:ext cx="41148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0" y="3429000"/>
            <a:ext cx="2286000" cy="320040"/>
          </a:xfrm>
          <a:prstGeom prst="rect">
            <a:avLst/>
          </a:prstGeom>
          <a:noFill/>
        </p:spPr>
        <p:txBody>
          <a:bodyPr wrap="square">
            <a:spAutoFit/>
          </a:bodyPr>
          <a:lstStyle/>
          <a:p>
            <a:pPr algn="l"/>
            <a:r>
              <a:rPr sz="1100" b="0" i="0">
                <a:solidFill>
                  <a:srgbClr val="787878"/>
                </a:solidFill>
              </a:rPr>
              <a:t>モバイル流入</a:t>
            </a:r>
          </a:p>
        </p:txBody>
      </p:sp>
      <p:sp>
        <p:nvSpPr>
          <p:cNvPr id="30" name="TextBox 29"/>
          <p:cNvSpPr txBox="1"/>
          <p:nvPr/>
        </p:nvSpPr>
        <p:spPr>
          <a:xfrm>
            <a:off x="9144000" y="3429000"/>
            <a:ext cx="2468880" cy="320040"/>
          </a:xfrm>
          <a:prstGeom prst="rect">
            <a:avLst/>
          </a:prstGeom>
          <a:noFill/>
        </p:spPr>
        <p:txBody>
          <a:bodyPr wrap="square">
            <a:spAutoFit/>
          </a:bodyPr>
          <a:lstStyle/>
          <a:p>
            <a:pPr algn="r"/>
            <a:r>
              <a:rPr sz="1300" b="1" i="0">
                <a:solidFill>
                  <a:srgbClr val="388E3C"/>
                </a:solidFill>
              </a:rPr>
              <a:t>新規獲得</a:t>
            </a:r>
          </a:p>
        </p:txBody>
      </p:sp>
      <p:sp>
        <p:nvSpPr>
          <p:cNvPr id="31" name="Rectangle 30"/>
          <p:cNvSpPr/>
          <p:nvPr/>
        </p:nvSpPr>
        <p:spPr>
          <a:xfrm>
            <a:off x="7680960" y="4206240"/>
            <a:ext cx="41148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0" y="4251960"/>
            <a:ext cx="2286000" cy="320040"/>
          </a:xfrm>
          <a:prstGeom prst="rect">
            <a:avLst/>
          </a:prstGeom>
          <a:noFill/>
        </p:spPr>
        <p:txBody>
          <a:bodyPr wrap="square">
            <a:spAutoFit/>
          </a:bodyPr>
          <a:lstStyle/>
          <a:p>
            <a:pPr algn="l"/>
            <a:r>
              <a:rPr sz="1100" b="0" i="0">
                <a:solidFill>
                  <a:srgbClr val="787878"/>
                </a:solidFill>
              </a:rPr>
              <a:t>採用コスト</a:t>
            </a:r>
          </a:p>
        </p:txBody>
      </p:sp>
      <p:sp>
        <p:nvSpPr>
          <p:cNvPr id="33" name="TextBox 32"/>
          <p:cNvSpPr txBox="1"/>
          <p:nvPr/>
        </p:nvSpPr>
        <p:spPr>
          <a:xfrm>
            <a:off x="9144000" y="4251960"/>
            <a:ext cx="2468880" cy="320040"/>
          </a:xfrm>
          <a:prstGeom prst="rect">
            <a:avLst/>
          </a:prstGeom>
          <a:noFill/>
        </p:spPr>
        <p:txBody>
          <a:bodyPr wrap="square">
            <a:spAutoFit/>
          </a:bodyPr>
          <a:lstStyle/>
          <a:p>
            <a:pPr algn="r"/>
            <a:r>
              <a:rPr sz="1300" b="1" i="0">
                <a:solidFill>
                  <a:srgbClr val="388E3C"/>
                </a:solidFill>
              </a:rPr>
              <a:t>低減</a:t>
            </a:r>
          </a:p>
        </p:txBody>
      </p:sp>
      <p:sp>
        <p:nvSpPr>
          <p:cNvPr id="34" name="Rectangle 33"/>
          <p:cNvSpPr/>
          <p:nvPr/>
        </p:nvSpPr>
        <p:spPr>
          <a:xfrm>
            <a:off x="7680960" y="5029200"/>
            <a:ext cx="41148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0" y="5074920"/>
            <a:ext cx="2286000" cy="320040"/>
          </a:xfrm>
          <a:prstGeom prst="rect">
            <a:avLst/>
          </a:prstGeom>
          <a:noFill/>
        </p:spPr>
        <p:txBody>
          <a:bodyPr wrap="square">
            <a:spAutoFit/>
          </a:bodyPr>
          <a:lstStyle/>
          <a:p>
            <a:pPr algn="l"/>
            <a:r>
              <a:rPr sz="1100" b="0" i="0">
                <a:solidFill>
                  <a:srgbClr val="787878"/>
                </a:solidFill>
              </a:rPr>
              <a:t>SEO順位</a:t>
            </a:r>
          </a:p>
        </p:txBody>
      </p:sp>
      <p:sp>
        <p:nvSpPr>
          <p:cNvPr id="36" name="TextBox 35"/>
          <p:cNvSpPr txBox="1"/>
          <p:nvPr/>
        </p:nvSpPr>
        <p:spPr>
          <a:xfrm>
            <a:off x="9144000" y="5074920"/>
            <a:ext cx="2468880" cy="320040"/>
          </a:xfrm>
          <a:prstGeom prst="rect">
            <a:avLst/>
          </a:prstGeom>
          <a:noFill/>
        </p:spPr>
        <p:txBody>
          <a:bodyPr wrap="square">
            <a:spAutoFit/>
          </a:bodyPr>
          <a:lstStyle/>
          <a:p>
            <a:pPr algn="r"/>
            <a:r>
              <a:rPr sz="1300" b="1" i="0">
                <a:solidFill>
                  <a:srgbClr val="388E3C"/>
                </a:solidFill>
              </a:rPr>
              <a:t>向上</a:t>
            </a:r>
          </a:p>
        </p:txBody>
      </p:sp>
      <p:sp>
        <p:nvSpPr>
          <p:cNvPr id="37" name="TextBox 36"/>
          <p:cNvSpPr txBox="1"/>
          <p:nvPr/>
        </p:nvSpPr>
        <p:spPr>
          <a:xfrm>
            <a:off x="365760" y="6309360"/>
            <a:ext cx="11430000" cy="320040"/>
          </a:xfrm>
          <a:prstGeom prst="rect">
            <a:avLst/>
          </a:prstGeom>
          <a:noFill/>
        </p:spPr>
        <p:txBody>
          <a:bodyPr wrap="square">
            <a:spAutoFit/>
          </a:bodyPr>
          <a:lstStyle/>
          <a:p>
            <a:pPr algn="l"/>
            <a:r>
              <a:rPr sz="900" b="0" i="1">
                <a:solidFill>
                  <a:srgbClr val="787878"/>
                </a:solidFill>
              </a:rPr>
              <a:t>※ 本レポートはAgent Teamsによる自動生成です。営業提案資料としてご活用ください。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7B3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0972800" cy="640080"/>
          </a:xfrm>
          <a:prstGeom prst="rect">
            <a:avLst/>
          </a:prstGeom>
          <a:noFill/>
        </p:spPr>
        <p:txBody>
          <a:bodyPr wrap="square">
            <a:spAutoFit/>
          </a:bodyPr>
          <a:lstStyle/>
          <a:p>
            <a:pPr algn="l"/>
            <a:r>
              <a:rPr sz="2400" b="1" i="0">
                <a:solidFill>
                  <a:srgbClr val="FFFFFF"/>
                </a:solidFill>
              </a:rPr>
              <a:t>Before / After — 改善イメージ</a:t>
            </a:r>
          </a:p>
        </p:txBody>
      </p:sp>
      <p:sp>
        <p:nvSpPr>
          <p:cNvPr id="4" name="Rectangle 3"/>
          <p:cNvSpPr/>
          <p:nvPr/>
        </p:nvSpPr>
        <p:spPr>
          <a:xfrm>
            <a:off x="274320" y="1097280"/>
            <a:ext cx="5486400" cy="5394960"/>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5029200" cy="548640"/>
          </a:xfrm>
          <a:prstGeom prst="rect">
            <a:avLst/>
          </a:prstGeom>
          <a:noFill/>
        </p:spPr>
        <p:txBody>
          <a:bodyPr wrap="square">
            <a:spAutoFit/>
          </a:bodyPr>
          <a:lstStyle/>
          <a:p>
            <a:pPr algn="l"/>
            <a:r>
              <a:rPr sz="1800" b="1" i="0">
                <a:solidFill>
                  <a:srgbClr val="D32F2F"/>
                </a:solidFill>
              </a:rPr>
              <a:t>😟 BEFORE（現状）</a:t>
            </a:r>
          </a:p>
        </p:txBody>
      </p:sp>
      <p:sp>
        <p:nvSpPr>
          <p:cNvPr id="6" name="Rectangle 5"/>
          <p:cNvSpPr/>
          <p:nvPr/>
        </p:nvSpPr>
        <p:spPr>
          <a:xfrm>
            <a:off x="457200" y="1920240"/>
            <a:ext cx="5029200" cy="548640"/>
          </a:xfrm>
          <a:prstGeom prst="rect">
            <a:avLst/>
          </a:prstGeom>
          <a:solidFill>
            <a:srgbClr val="FFC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993392"/>
            <a:ext cx="365760" cy="365760"/>
          </a:xfrm>
          <a:prstGeom prst="rect">
            <a:avLst/>
          </a:prstGeom>
          <a:noFill/>
        </p:spPr>
        <p:txBody>
          <a:bodyPr wrap="square">
            <a:spAutoFit/>
          </a:bodyPr>
          <a:lstStyle/>
          <a:p>
            <a:pPr algn="l"/>
            <a:r>
              <a:rPr sz="1400" b="1" i="0">
                <a:solidFill>
                  <a:srgbClr val="D32F2F"/>
                </a:solidFill>
              </a:rPr>
              <a:t>✕</a:t>
            </a:r>
          </a:p>
        </p:txBody>
      </p:sp>
      <p:sp>
        <p:nvSpPr>
          <p:cNvPr id="8" name="TextBox 7"/>
          <p:cNvSpPr txBox="1"/>
          <p:nvPr/>
        </p:nvSpPr>
        <p:spPr>
          <a:xfrm>
            <a:off x="914400" y="1993392"/>
            <a:ext cx="4389120" cy="365760"/>
          </a:xfrm>
          <a:prstGeom prst="rect">
            <a:avLst/>
          </a:prstGeom>
          <a:noFill/>
        </p:spPr>
        <p:txBody>
          <a:bodyPr wrap="square">
            <a:spAutoFit/>
          </a:bodyPr>
          <a:lstStyle/>
          <a:p>
            <a:pPr algn="l"/>
            <a:r>
              <a:rPr sz="1100" b="0" i="0">
                <a:solidFill>
                  <a:srgbClr val="1A1A2E"/>
                </a:solidFill>
              </a:rPr>
              <a:t>スマートフォン非対応</a:t>
            </a:r>
          </a:p>
        </p:txBody>
      </p:sp>
      <p:sp>
        <p:nvSpPr>
          <p:cNvPr id="9" name="Rectangle 8"/>
          <p:cNvSpPr/>
          <p:nvPr/>
        </p:nvSpPr>
        <p:spPr>
          <a:xfrm>
            <a:off x="457200" y="2606040"/>
            <a:ext cx="5029200" cy="548640"/>
          </a:xfrm>
          <a:prstGeom prst="rect">
            <a:avLst/>
          </a:prstGeom>
          <a:solidFill>
            <a:srgbClr val="FFC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679192"/>
            <a:ext cx="365760" cy="365760"/>
          </a:xfrm>
          <a:prstGeom prst="rect">
            <a:avLst/>
          </a:prstGeom>
          <a:noFill/>
        </p:spPr>
        <p:txBody>
          <a:bodyPr wrap="square">
            <a:spAutoFit/>
          </a:bodyPr>
          <a:lstStyle/>
          <a:p>
            <a:pPr algn="l"/>
            <a:r>
              <a:rPr sz="1400" b="1" i="0">
                <a:solidFill>
                  <a:srgbClr val="D32F2F"/>
                </a:solidFill>
              </a:rPr>
              <a:t>✕</a:t>
            </a:r>
          </a:p>
        </p:txBody>
      </p:sp>
      <p:sp>
        <p:nvSpPr>
          <p:cNvPr id="11" name="TextBox 10"/>
          <p:cNvSpPr txBox="1"/>
          <p:nvPr/>
        </p:nvSpPr>
        <p:spPr>
          <a:xfrm>
            <a:off x="914400" y="2679192"/>
            <a:ext cx="4389120" cy="365760"/>
          </a:xfrm>
          <a:prstGeom prst="rect">
            <a:avLst/>
          </a:prstGeom>
          <a:noFill/>
        </p:spPr>
        <p:txBody>
          <a:bodyPr wrap="square">
            <a:spAutoFit/>
          </a:bodyPr>
          <a:lstStyle/>
          <a:p>
            <a:pPr algn="l"/>
            <a:r>
              <a:rPr sz="1100" b="0" i="0">
                <a:solidFill>
                  <a:srgbClr val="1A1A2E"/>
                </a:solidFill>
              </a:rPr>
              <a:t>SNSリンクなし</a:t>
            </a:r>
          </a:p>
        </p:txBody>
      </p:sp>
      <p:sp>
        <p:nvSpPr>
          <p:cNvPr id="12" name="Rectangle 11"/>
          <p:cNvSpPr/>
          <p:nvPr/>
        </p:nvSpPr>
        <p:spPr>
          <a:xfrm>
            <a:off x="457200" y="3291840"/>
            <a:ext cx="5029200" cy="548640"/>
          </a:xfrm>
          <a:prstGeom prst="rect">
            <a:avLst/>
          </a:prstGeom>
          <a:solidFill>
            <a:srgbClr val="FFC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364992"/>
            <a:ext cx="365760" cy="365760"/>
          </a:xfrm>
          <a:prstGeom prst="rect">
            <a:avLst/>
          </a:prstGeom>
          <a:noFill/>
        </p:spPr>
        <p:txBody>
          <a:bodyPr wrap="square">
            <a:spAutoFit/>
          </a:bodyPr>
          <a:lstStyle/>
          <a:p>
            <a:pPr algn="l"/>
            <a:r>
              <a:rPr sz="1400" b="1" i="0">
                <a:solidFill>
                  <a:srgbClr val="D32F2F"/>
                </a:solidFill>
              </a:rPr>
              <a:t>✕</a:t>
            </a:r>
          </a:p>
        </p:txBody>
      </p:sp>
      <p:sp>
        <p:nvSpPr>
          <p:cNvPr id="14" name="TextBox 13"/>
          <p:cNvSpPr txBox="1"/>
          <p:nvPr/>
        </p:nvSpPr>
        <p:spPr>
          <a:xfrm>
            <a:off x="914400" y="3364992"/>
            <a:ext cx="4389120" cy="365760"/>
          </a:xfrm>
          <a:prstGeom prst="rect">
            <a:avLst/>
          </a:prstGeom>
          <a:noFill/>
        </p:spPr>
        <p:txBody>
          <a:bodyPr wrap="square">
            <a:spAutoFit/>
          </a:bodyPr>
          <a:lstStyle/>
          <a:p>
            <a:pPr algn="l"/>
            <a:r>
              <a:rPr sz="1100" b="0" i="0">
                <a:solidFill>
                  <a:srgbClr val="1A1A2E"/>
                </a:solidFill>
              </a:rPr>
              <a:t>サイトがクローラー・ボットをブロック（403）しており、SEOクローラビリティに</a:t>
            </a:r>
          </a:p>
        </p:txBody>
      </p:sp>
      <p:sp>
        <p:nvSpPr>
          <p:cNvPr id="15" name="Rectangle 14"/>
          <p:cNvSpPr/>
          <p:nvPr/>
        </p:nvSpPr>
        <p:spPr>
          <a:xfrm>
            <a:off x="457200" y="3977640"/>
            <a:ext cx="5029200" cy="548640"/>
          </a:xfrm>
          <a:prstGeom prst="rect">
            <a:avLst/>
          </a:prstGeom>
          <a:solidFill>
            <a:srgbClr val="FFC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050792"/>
            <a:ext cx="365760" cy="365760"/>
          </a:xfrm>
          <a:prstGeom prst="rect">
            <a:avLst/>
          </a:prstGeom>
          <a:noFill/>
        </p:spPr>
        <p:txBody>
          <a:bodyPr wrap="square">
            <a:spAutoFit/>
          </a:bodyPr>
          <a:lstStyle/>
          <a:p>
            <a:pPr algn="l"/>
            <a:r>
              <a:rPr sz="1400" b="1" i="0">
                <a:solidFill>
                  <a:srgbClr val="D32F2F"/>
                </a:solidFill>
              </a:rPr>
              <a:t>✕</a:t>
            </a:r>
          </a:p>
        </p:txBody>
      </p:sp>
      <p:sp>
        <p:nvSpPr>
          <p:cNvPr id="17" name="TextBox 16"/>
          <p:cNvSpPr txBox="1"/>
          <p:nvPr/>
        </p:nvSpPr>
        <p:spPr>
          <a:xfrm>
            <a:off x="914400" y="4050792"/>
            <a:ext cx="4389120" cy="365760"/>
          </a:xfrm>
          <a:prstGeom prst="rect">
            <a:avLst/>
          </a:prstGeom>
          <a:noFill/>
        </p:spPr>
        <p:txBody>
          <a:bodyPr wrap="square">
            <a:spAutoFit/>
          </a:bodyPr>
          <a:lstStyle/>
          <a:p>
            <a:pPr algn="l"/>
            <a:r>
              <a:rPr sz="1100" b="0" i="0">
                <a:solidFill>
                  <a:srgbClr val="1A1A2E"/>
                </a:solidFill>
              </a:rPr>
              <a:t>サイト内検索機能が確認できず、豊富なコンテンツへのアクセス効率が低い</a:t>
            </a:r>
          </a:p>
        </p:txBody>
      </p:sp>
      <p:sp>
        <p:nvSpPr>
          <p:cNvPr id="18" name="Rectangle 17"/>
          <p:cNvSpPr/>
          <p:nvPr/>
        </p:nvSpPr>
        <p:spPr>
          <a:xfrm>
            <a:off x="457200" y="4663440"/>
            <a:ext cx="5029200" cy="548640"/>
          </a:xfrm>
          <a:prstGeom prst="rect">
            <a:avLst/>
          </a:prstGeom>
          <a:solidFill>
            <a:srgbClr val="FFC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736592"/>
            <a:ext cx="365760" cy="365760"/>
          </a:xfrm>
          <a:prstGeom prst="rect">
            <a:avLst/>
          </a:prstGeom>
          <a:noFill/>
        </p:spPr>
        <p:txBody>
          <a:bodyPr wrap="square">
            <a:spAutoFit/>
          </a:bodyPr>
          <a:lstStyle/>
          <a:p>
            <a:pPr algn="l"/>
            <a:r>
              <a:rPr sz="1400" b="1" i="0">
                <a:solidFill>
                  <a:srgbClr val="D32F2F"/>
                </a:solidFill>
              </a:rPr>
              <a:t>✕</a:t>
            </a:r>
          </a:p>
        </p:txBody>
      </p:sp>
      <p:sp>
        <p:nvSpPr>
          <p:cNvPr id="20" name="TextBox 19"/>
          <p:cNvSpPr txBox="1"/>
          <p:nvPr/>
        </p:nvSpPr>
        <p:spPr>
          <a:xfrm>
            <a:off x="914400" y="4736592"/>
            <a:ext cx="4389120" cy="365760"/>
          </a:xfrm>
          <a:prstGeom prst="rect">
            <a:avLst/>
          </a:prstGeom>
          <a:noFill/>
        </p:spPr>
        <p:txBody>
          <a:bodyPr wrap="square">
            <a:spAutoFit/>
          </a:bodyPr>
          <a:lstStyle/>
          <a:p>
            <a:pPr algn="l"/>
            <a:r>
              <a:rPr sz="1100" b="0" i="0">
                <a:solidFill>
                  <a:srgbClr val="1A1A2E"/>
                </a:solidFill>
              </a:rPr>
              <a:t>SNSリンクが確認できず、コンテンツマーケティングの拡散機会を逃している</a:t>
            </a:r>
          </a:p>
        </p:txBody>
      </p:sp>
      <p:sp>
        <p:nvSpPr>
          <p:cNvPr id="21" name="Rectangle 20"/>
          <p:cNvSpPr/>
          <p:nvPr/>
        </p:nvSpPr>
        <p:spPr>
          <a:xfrm>
            <a:off x="6400800" y="1097280"/>
            <a:ext cx="5486400" cy="53949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1188720"/>
            <a:ext cx="5029200" cy="548640"/>
          </a:xfrm>
          <a:prstGeom prst="rect">
            <a:avLst/>
          </a:prstGeom>
          <a:noFill/>
        </p:spPr>
        <p:txBody>
          <a:bodyPr wrap="square">
            <a:spAutoFit/>
          </a:bodyPr>
          <a:lstStyle/>
          <a:p>
            <a:pPr algn="l"/>
            <a:r>
              <a:rPr sz="1800" b="1" i="0">
                <a:solidFill>
                  <a:srgbClr val="388E3C"/>
                </a:solidFill>
              </a:rPr>
              <a:t>😊 AFTER（改善後）</a:t>
            </a:r>
          </a:p>
        </p:txBody>
      </p:sp>
      <p:sp>
        <p:nvSpPr>
          <p:cNvPr id="23" name="Rectangle 22"/>
          <p:cNvSpPr/>
          <p:nvPr/>
        </p:nvSpPr>
        <p:spPr>
          <a:xfrm>
            <a:off x="6583680" y="1920240"/>
            <a:ext cx="5029200" cy="5486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9400" y="1993392"/>
            <a:ext cx="365760" cy="365760"/>
          </a:xfrm>
          <a:prstGeom prst="rect">
            <a:avLst/>
          </a:prstGeom>
          <a:noFill/>
        </p:spPr>
        <p:txBody>
          <a:bodyPr wrap="square">
            <a:spAutoFit/>
          </a:bodyPr>
          <a:lstStyle/>
          <a:p>
            <a:pPr algn="l"/>
            <a:r>
              <a:rPr sz="1400" b="1" i="0">
                <a:solidFill>
                  <a:srgbClr val="388E3C"/>
                </a:solidFill>
              </a:rPr>
              <a:t>✓</a:t>
            </a:r>
          </a:p>
        </p:txBody>
      </p:sp>
      <p:sp>
        <p:nvSpPr>
          <p:cNvPr id="25" name="TextBox 24"/>
          <p:cNvSpPr txBox="1"/>
          <p:nvPr/>
        </p:nvSpPr>
        <p:spPr>
          <a:xfrm>
            <a:off x="7040880" y="1993392"/>
            <a:ext cx="4389120" cy="365760"/>
          </a:xfrm>
          <a:prstGeom prst="rect">
            <a:avLst/>
          </a:prstGeom>
          <a:noFill/>
        </p:spPr>
        <p:txBody>
          <a:bodyPr wrap="square">
            <a:spAutoFit/>
          </a:bodyPr>
          <a:lstStyle/>
          <a:p>
            <a:pPr algn="l"/>
            <a:r>
              <a:rPr sz="1100" b="0" i="0">
                <a:solidFill>
                  <a:srgbClr val="1A1A2E"/>
                </a:solidFill>
              </a:rPr>
              <a:t>24時間Webフォームで問い合わせ受付</a:t>
            </a:r>
          </a:p>
        </p:txBody>
      </p:sp>
      <p:sp>
        <p:nvSpPr>
          <p:cNvPr id="26" name="Rectangle 25"/>
          <p:cNvSpPr/>
          <p:nvPr/>
        </p:nvSpPr>
        <p:spPr>
          <a:xfrm>
            <a:off x="6583680" y="2606040"/>
            <a:ext cx="5029200" cy="5486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2679192"/>
            <a:ext cx="365760" cy="365760"/>
          </a:xfrm>
          <a:prstGeom prst="rect">
            <a:avLst/>
          </a:prstGeom>
          <a:noFill/>
        </p:spPr>
        <p:txBody>
          <a:bodyPr wrap="square">
            <a:spAutoFit/>
          </a:bodyPr>
          <a:lstStyle/>
          <a:p>
            <a:pPr algn="l"/>
            <a:r>
              <a:rPr sz="1400" b="1" i="0">
                <a:solidFill>
                  <a:srgbClr val="388E3C"/>
                </a:solidFill>
              </a:rPr>
              <a:t>✓</a:t>
            </a:r>
          </a:p>
        </p:txBody>
      </p:sp>
      <p:sp>
        <p:nvSpPr>
          <p:cNvPr id="28" name="TextBox 27"/>
          <p:cNvSpPr txBox="1"/>
          <p:nvPr/>
        </p:nvSpPr>
        <p:spPr>
          <a:xfrm>
            <a:off x="7040880" y="2679192"/>
            <a:ext cx="4389120" cy="365760"/>
          </a:xfrm>
          <a:prstGeom prst="rect">
            <a:avLst/>
          </a:prstGeom>
          <a:noFill/>
        </p:spPr>
        <p:txBody>
          <a:bodyPr wrap="square">
            <a:spAutoFit/>
          </a:bodyPr>
          <a:lstStyle/>
          <a:p>
            <a:pPr algn="l"/>
            <a:r>
              <a:rPr sz="1100" b="0" i="0">
                <a:solidFill>
                  <a:srgbClr val="1A1A2E"/>
                </a:solidFill>
              </a:rPr>
              <a:t>スマートフォン完全対応デザイン</a:t>
            </a:r>
          </a:p>
        </p:txBody>
      </p:sp>
      <p:sp>
        <p:nvSpPr>
          <p:cNvPr id="29" name="Rectangle 28"/>
          <p:cNvSpPr/>
          <p:nvPr/>
        </p:nvSpPr>
        <p:spPr>
          <a:xfrm>
            <a:off x="6583680" y="3291840"/>
            <a:ext cx="5029200" cy="5486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400" y="3364992"/>
            <a:ext cx="365760" cy="365760"/>
          </a:xfrm>
          <a:prstGeom prst="rect">
            <a:avLst/>
          </a:prstGeom>
          <a:noFill/>
        </p:spPr>
        <p:txBody>
          <a:bodyPr wrap="square">
            <a:spAutoFit/>
          </a:bodyPr>
          <a:lstStyle/>
          <a:p>
            <a:pPr algn="l"/>
            <a:r>
              <a:rPr sz="1400" b="1" i="0">
                <a:solidFill>
                  <a:srgbClr val="388E3C"/>
                </a:solidFill>
              </a:rPr>
              <a:t>✓</a:t>
            </a:r>
          </a:p>
        </p:txBody>
      </p:sp>
      <p:sp>
        <p:nvSpPr>
          <p:cNvPr id="31" name="TextBox 30"/>
          <p:cNvSpPr txBox="1"/>
          <p:nvPr/>
        </p:nvSpPr>
        <p:spPr>
          <a:xfrm>
            <a:off x="7040880" y="3364992"/>
            <a:ext cx="4389120" cy="365760"/>
          </a:xfrm>
          <a:prstGeom prst="rect">
            <a:avLst/>
          </a:prstGeom>
          <a:noFill/>
        </p:spPr>
        <p:txBody>
          <a:bodyPr wrap="square">
            <a:spAutoFit/>
          </a:bodyPr>
          <a:lstStyle/>
          <a:p>
            <a:pPr algn="l"/>
            <a:r>
              <a:rPr sz="1100" b="0" i="0">
                <a:solidFill>
                  <a:srgbClr val="1A1A2E"/>
                </a:solidFill>
              </a:rPr>
              <a:t>英語ページで海外からの問い合わせ対応</a:t>
            </a:r>
          </a:p>
        </p:txBody>
      </p:sp>
      <p:sp>
        <p:nvSpPr>
          <p:cNvPr id="32" name="Rectangle 31"/>
          <p:cNvSpPr/>
          <p:nvPr/>
        </p:nvSpPr>
        <p:spPr>
          <a:xfrm>
            <a:off x="6583680" y="3977640"/>
            <a:ext cx="5029200" cy="5486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29400" y="4050792"/>
            <a:ext cx="365760" cy="365760"/>
          </a:xfrm>
          <a:prstGeom prst="rect">
            <a:avLst/>
          </a:prstGeom>
          <a:noFill/>
        </p:spPr>
        <p:txBody>
          <a:bodyPr wrap="square">
            <a:spAutoFit/>
          </a:bodyPr>
          <a:lstStyle/>
          <a:p>
            <a:pPr algn="l"/>
            <a:r>
              <a:rPr sz="1400" b="1" i="0">
                <a:solidFill>
                  <a:srgbClr val="388E3C"/>
                </a:solidFill>
              </a:rPr>
              <a:t>✓</a:t>
            </a:r>
          </a:p>
        </p:txBody>
      </p:sp>
      <p:sp>
        <p:nvSpPr>
          <p:cNvPr id="34" name="TextBox 33"/>
          <p:cNvSpPr txBox="1"/>
          <p:nvPr/>
        </p:nvSpPr>
        <p:spPr>
          <a:xfrm>
            <a:off x="7040880" y="4050792"/>
            <a:ext cx="4389120" cy="365760"/>
          </a:xfrm>
          <a:prstGeom prst="rect">
            <a:avLst/>
          </a:prstGeom>
          <a:noFill/>
        </p:spPr>
        <p:txBody>
          <a:bodyPr wrap="square">
            <a:spAutoFit/>
          </a:bodyPr>
          <a:lstStyle/>
          <a:p>
            <a:pPr algn="l"/>
            <a:r>
              <a:rPr sz="1100" b="0" i="0">
                <a:solidFill>
                  <a:srgbClr val="1A1A2E"/>
                </a:solidFill>
              </a:rPr>
              <a:t>採用ページで人材獲得コスト削減</a:t>
            </a:r>
          </a:p>
        </p:txBody>
      </p:sp>
      <p:sp>
        <p:nvSpPr>
          <p:cNvPr id="35" name="Rectangle 34"/>
          <p:cNvSpPr/>
          <p:nvPr/>
        </p:nvSpPr>
        <p:spPr>
          <a:xfrm>
            <a:off x="6583680" y="4663440"/>
            <a:ext cx="5029200" cy="5486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9400" y="4736592"/>
            <a:ext cx="365760" cy="365760"/>
          </a:xfrm>
          <a:prstGeom prst="rect">
            <a:avLst/>
          </a:prstGeom>
          <a:noFill/>
        </p:spPr>
        <p:txBody>
          <a:bodyPr wrap="square">
            <a:spAutoFit/>
          </a:bodyPr>
          <a:lstStyle/>
          <a:p>
            <a:pPr algn="l"/>
            <a:r>
              <a:rPr sz="1400" b="1" i="0">
                <a:solidFill>
                  <a:srgbClr val="388E3C"/>
                </a:solidFill>
              </a:rPr>
              <a:t>✓</a:t>
            </a:r>
          </a:p>
        </p:txBody>
      </p:sp>
      <p:sp>
        <p:nvSpPr>
          <p:cNvPr id="37" name="TextBox 36"/>
          <p:cNvSpPr txBox="1"/>
          <p:nvPr/>
        </p:nvSpPr>
        <p:spPr>
          <a:xfrm>
            <a:off x="7040880" y="4736592"/>
            <a:ext cx="4389120" cy="365760"/>
          </a:xfrm>
          <a:prstGeom prst="rect">
            <a:avLst/>
          </a:prstGeom>
          <a:noFill/>
        </p:spPr>
        <p:txBody>
          <a:bodyPr wrap="square">
            <a:spAutoFit/>
          </a:bodyPr>
          <a:lstStyle/>
          <a:p>
            <a:pPr algn="l"/>
            <a:r>
              <a:rPr sz="1100" b="0" i="0">
                <a:solidFill>
                  <a:srgbClr val="1A1A2E"/>
                </a:solidFill>
              </a:rPr>
              <a:t>SNS連携でブランド認知向上</a:t>
            </a:r>
          </a:p>
        </p:txBody>
      </p:sp>
      <p:sp>
        <p:nvSpPr>
          <p:cNvPr id="38" name="Rectangle 37"/>
          <p:cNvSpPr/>
          <p:nvPr/>
        </p:nvSpPr>
        <p:spPr>
          <a:xfrm>
            <a:off x="6583680" y="5349240"/>
            <a:ext cx="5029200" cy="5486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29400" y="5422392"/>
            <a:ext cx="365760" cy="365760"/>
          </a:xfrm>
          <a:prstGeom prst="rect">
            <a:avLst/>
          </a:prstGeom>
          <a:noFill/>
        </p:spPr>
        <p:txBody>
          <a:bodyPr wrap="square">
            <a:spAutoFit/>
          </a:bodyPr>
          <a:lstStyle/>
          <a:p>
            <a:pPr algn="l"/>
            <a:r>
              <a:rPr sz="1400" b="1" i="0">
                <a:solidFill>
                  <a:srgbClr val="388E3C"/>
                </a:solidFill>
              </a:rPr>
              <a:t>✓</a:t>
            </a:r>
          </a:p>
        </p:txBody>
      </p:sp>
      <p:sp>
        <p:nvSpPr>
          <p:cNvPr id="40" name="TextBox 39"/>
          <p:cNvSpPr txBox="1"/>
          <p:nvPr/>
        </p:nvSpPr>
        <p:spPr>
          <a:xfrm>
            <a:off x="7040880" y="5422392"/>
            <a:ext cx="4389120" cy="365760"/>
          </a:xfrm>
          <a:prstGeom prst="rect">
            <a:avLst/>
          </a:prstGeom>
          <a:noFill/>
        </p:spPr>
        <p:txBody>
          <a:bodyPr wrap="square">
            <a:spAutoFit/>
          </a:bodyPr>
          <a:lstStyle/>
          <a:p>
            <a:pPr algn="l"/>
            <a:r>
              <a:rPr sz="1100" b="0" i="0">
                <a:solidFill>
                  <a:srgbClr val="1A1A2E"/>
                </a:solidFill>
              </a:rPr>
              <a:t>FAQページでセルフサービス化</a:t>
            </a:r>
          </a:p>
        </p:txBody>
      </p:sp>
      <p:sp>
        <p:nvSpPr>
          <p:cNvPr id="41" name="Rectangle 40"/>
          <p:cNvSpPr/>
          <p:nvPr/>
        </p:nvSpPr>
        <p:spPr>
          <a:xfrm>
            <a:off x="5760720" y="3291840"/>
            <a:ext cx="640080" cy="640080"/>
          </a:xfrm>
          <a:prstGeom prst="rect">
            <a:avLst/>
          </a:prstGeom>
          <a:solidFill>
            <a:srgbClr val="BF6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760720" y="3337560"/>
            <a:ext cx="640080" cy="502920"/>
          </a:xfrm>
          <a:prstGeom prst="rect">
            <a:avLst/>
          </a:prstGeom>
          <a:noFill/>
        </p:spPr>
        <p:txBody>
          <a:bodyPr wrap="square">
            <a:spAutoFit/>
          </a:bodyPr>
          <a:lstStyle/>
          <a:p>
            <a:pPr algn="ctr"/>
            <a:r>
              <a:rPr sz="2200" b="1" i="0">
                <a:solidFill>
                  <a:srgbClr val="FFFFFF"/>
                </a:solidFill>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